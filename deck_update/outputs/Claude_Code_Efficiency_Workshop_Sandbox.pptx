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8d4c5e5e439453f" /><Relationship Type="http://schemas.openxmlformats.org/officeDocument/2006/relationships/extended-properties" Target="/docProps/app.xml" Id="R9a4c69b49d0f46ff" /><Relationship Type="http://schemas.openxmlformats.org/officeDocument/2006/relationships/officeDocument" Target="/ppt/presentation.xml" Id="Rdd6ce084adfe463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ff3f8e4792e4975"/>
  </p:sldMasterIdLst>
  <p:notesMasterIdLst>
    <p:notesMasterId xmlns:r="http://schemas.openxmlformats.org/officeDocument/2006/relationships" r:id="Rb0aeb0e9fa51498a"/>
  </p:notesMasterIdLst>
  <p:sldIdLst>
    <p:sldId xmlns:r="http://schemas.openxmlformats.org/officeDocument/2006/relationships" id="256" r:id="R7c08d85270f94e6d"/>
    <p:sldId xmlns:r="http://schemas.openxmlformats.org/officeDocument/2006/relationships" id="257" r:id="Ra9b0a7ba296c49de"/>
    <p:sldId xmlns:r="http://schemas.openxmlformats.org/officeDocument/2006/relationships" id="258" r:id="R32ebaa0282c84f46"/>
    <p:sldId xmlns:r="http://schemas.openxmlformats.org/officeDocument/2006/relationships" id="259" r:id="R602d172e225d4270"/>
    <p:sldId xmlns:r="http://schemas.openxmlformats.org/officeDocument/2006/relationships" id="260" r:id="Rfcffa3d09851414e"/>
    <p:sldId xmlns:r="http://schemas.openxmlformats.org/officeDocument/2006/relationships" id="261" r:id="Re52f6eac11bc46a2"/>
    <p:sldId xmlns:r="http://schemas.openxmlformats.org/officeDocument/2006/relationships" id="262" r:id="R99c22a9a86d94aba"/>
    <p:sldId xmlns:r="http://schemas.openxmlformats.org/officeDocument/2006/relationships" id="263" r:id="R494a6e40dfd34073"/>
    <p:sldId xmlns:r="http://schemas.openxmlformats.org/officeDocument/2006/relationships" id="264" r:id="R5eefadd58e224616"/>
    <p:sldId xmlns:r="http://schemas.openxmlformats.org/officeDocument/2006/relationships" id="265" r:id="R8a7974b8c8264695"/>
    <p:sldId xmlns:r="http://schemas.openxmlformats.org/officeDocument/2006/relationships" id="266" r:id="R8de1340c840649a7"/>
    <p:sldId xmlns:r="http://schemas.openxmlformats.org/officeDocument/2006/relationships" id="267" r:id="R301efd72f39d461d"/>
    <p:sldId xmlns:r="http://schemas.openxmlformats.org/officeDocument/2006/relationships" id="268" r:id="R559aea227c0d4df2"/>
    <p:sldId xmlns:r="http://schemas.openxmlformats.org/officeDocument/2006/relationships" id="269" r:id="Rbce9d4ffab534bbd"/>
    <p:sldId xmlns:r="http://schemas.openxmlformats.org/officeDocument/2006/relationships" id="270" r:id="R777837155a9348c7"/>
    <p:sldId xmlns:r="http://schemas.openxmlformats.org/officeDocument/2006/relationships" id="271" r:id="R7c44d74717ba41bc"/>
    <p:sldId xmlns:r="http://schemas.openxmlformats.org/officeDocument/2006/relationships" id="272" r:id="R3b33c2eea0304d41"/>
    <p:sldId xmlns:r="http://schemas.openxmlformats.org/officeDocument/2006/relationships" id="273" r:id="R2cffd05ec527451a"/>
    <p:sldId xmlns:r="http://schemas.openxmlformats.org/officeDocument/2006/relationships" id="274" r:id="R61b80d4773e64302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ff3f8e4792e4975" /><Relationship Type="http://schemas.openxmlformats.org/officeDocument/2006/relationships/theme" Target="/ppt/theme/theme1.xml" Id="R79ab7ce6718e41b3" /><Relationship Type="http://schemas.openxmlformats.org/officeDocument/2006/relationships/notesMaster" Target="/ppt/notesMasters/notesMaster1.xml" Id="Rb0aeb0e9fa51498a" /><Relationship Type="http://schemas.openxmlformats.org/officeDocument/2006/relationships/presProps" Target="/ppt/presProps.xml" Id="R6649ca9096434d18" /><Relationship Type="http://schemas.openxmlformats.org/officeDocument/2006/relationships/viewProps" Target="/ppt/viewProps.xml" Id="Re63280ff926c4487" /><Relationship Type="http://schemas.openxmlformats.org/officeDocument/2006/relationships/tableStyles" Target="/ppt/tableStyles.xml" Id="R39dd0d6cfd504aaa" /><Relationship Type="http://schemas.openxmlformats.org/officeDocument/2006/relationships/slide" Target="/ppt/slides/slide1.xml" Id="R7c08d85270f94e6d" /><Relationship Type="http://schemas.openxmlformats.org/officeDocument/2006/relationships/slide" Target="/ppt/slides/slide2.xml" Id="Ra9b0a7ba296c49de" /><Relationship Type="http://schemas.openxmlformats.org/officeDocument/2006/relationships/slide" Target="/ppt/slides/slide3.xml" Id="R32ebaa0282c84f46" /><Relationship Type="http://schemas.openxmlformats.org/officeDocument/2006/relationships/slide" Target="/ppt/slides/slide4.xml" Id="R602d172e225d4270" /><Relationship Type="http://schemas.openxmlformats.org/officeDocument/2006/relationships/slide" Target="/ppt/slides/slide5.xml" Id="Rfcffa3d09851414e" /><Relationship Type="http://schemas.openxmlformats.org/officeDocument/2006/relationships/slide" Target="/ppt/slides/slide6.xml" Id="Re52f6eac11bc46a2" /><Relationship Type="http://schemas.openxmlformats.org/officeDocument/2006/relationships/slide" Target="/ppt/slides/slide7.xml" Id="R99c22a9a86d94aba" /><Relationship Type="http://schemas.openxmlformats.org/officeDocument/2006/relationships/slide" Target="/ppt/slides/slide8.xml" Id="R494a6e40dfd34073" /><Relationship Type="http://schemas.openxmlformats.org/officeDocument/2006/relationships/slide" Target="/ppt/slides/slide9.xml" Id="R5eefadd58e224616" /><Relationship Type="http://schemas.openxmlformats.org/officeDocument/2006/relationships/slide" Target="/ppt/slides/slide10.xml" Id="R8a7974b8c8264695" /><Relationship Type="http://schemas.openxmlformats.org/officeDocument/2006/relationships/slide" Target="/ppt/slides/slide11.xml" Id="R8de1340c840649a7" /><Relationship Type="http://schemas.openxmlformats.org/officeDocument/2006/relationships/slide" Target="/ppt/slides/slide12.xml" Id="R301efd72f39d461d" /><Relationship Type="http://schemas.openxmlformats.org/officeDocument/2006/relationships/slide" Target="/ppt/slides/slide13.xml" Id="R559aea227c0d4df2" /><Relationship Type="http://schemas.openxmlformats.org/officeDocument/2006/relationships/slide" Target="/ppt/slides/slide14.xml" Id="Rbce9d4ffab534bbd" /><Relationship Type="http://schemas.openxmlformats.org/officeDocument/2006/relationships/slide" Target="/ppt/slides/slide15.xml" Id="R777837155a9348c7" /><Relationship Type="http://schemas.openxmlformats.org/officeDocument/2006/relationships/slide" Target="/ppt/slides/slide16.xml" Id="R7c44d74717ba41bc" /><Relationship Type="http://schemas.openxmlformats.org/officeDocument/2006/relationships/slide" Target="/ppt/slides/slide17.xml" Id="R3b33c2eea0304d41" /><Relationship Type="http://schemas.openxmlformats.org/officeDocument/2006/relationships/slide" Target="/ppt/slides/slide18.xml" Id="R2cffd05ec527451a" /><Relationship Type="http://schemas.openxmlformats.org/officeDocument/2006/relationships/slide" Target="/ppt/slides/slide19.xml" Id="R61b80d4773e6430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a753b7b91e6a4bf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Office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a3e7ac864f547c8" /><Relationship Type="http://schemas.openxmlformats.org/officeDocument/2006/relationships/notesMaster" Target="/ppt/notesMasters/notesMaster1.xml" Id="Rd7d0f1a14d644a2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aeedd7c7d09419e" /><Relationship Type="http://schemas.openxmlformats.org/officeDocument/2006/relationships/notesMaster" Target="/ppt/notesMasters/notesMaster1.xml" Id="R0d18b7e63acb450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5360f4c77cc40b9" /><Relationship Type="http://schemas.openxmlformats.org/officeDocument/2006/relationships/notesMaster" Target="/ppt/notesMasters/notesMaster1.xml" Id="Re1447fcce70b471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666ab119d934a06" /><Relationship Type="http://schemas.openxmlformats.org/officeDocument/2006/relationships/notesMaster" Target="/ppt/notesMasters/notesMaster1.xml" Id="R2c89ae5eb6a445c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1789fbb8c3b4be7" /><Relationship Type="http://schemas.openxmlformats.org/officeDocument/2006/relationships/notesMaster" Target="/ppt/notesMasters/notesMaster1.xml" Id="Rcd75e7555b66454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15de3da7774480d" /><Relationship Type="http://schemas.openxmlformats.org/officeDocument/2006/relationships/notesMaster" Target="/ppt/notesMasters/notesMaster1.xml" Id="R1a20c4ede29a417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f578cc1cf6c4d90" /><Relationship Type="http://schemas.openxmlformats.org/officeDocument/2006/relationships/notesMaster" Target="/ppt/notesMasters/notesMaster1.xml" Id="Ra75064fe0994494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097bb3471db4ef8" /><Relationship Type="http://schemas.openxmlformats.org/officeDocument/2006/relationships/notesMaster" Target="/ppt/notesMasters/notesMaster1.xml" Id="R921b50fed704488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4b1a72191d04d22" /><Relationship Type="http://schemas.openxmlformats.org/officeDocument/2006/relationships/notesMaster" Target="/ppt/notesMasters/notesMaster1.xml" Id="R925e53d7031442d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f38ea9c16e04059" /><Relationship Type="http://schemas.openxmlformats.org/officeDocument/2006/relationships/notesMaster" Target="/ppt/notesMasters/notesMaster1.xml" Id="Rf8dcc777a04b456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d14c932723c4595" /><Relationship Type="http://schemas.openxmlformats.org/officeDocument/2006/relationships/notesMaster" Target="/ppt/notesMasters/notesMaster1.xml" Id="R5992940f1700441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4eb19fac16040d5" /><Relationship Type="http://schemas.openxmlformats.org/officeDocument/2006/relationships/notesMaster" Target="/ppt/notesMasters/notesMaster1.xml" Id="R34a5a0eb7fc6421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7ea803c2e2b4cd8" /><Relationship Type="http://schemas.openxmlformats.org/officeDocument/2006/relationships/notesMaster" Target="/ppt/notesMasters/notesMaster1.xml" Id="R3be6dd96c0b4496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78192b934c64a69" /><Relationship Type="http://schemas.openxmlformats.org/officeDocument/2006/relationships/notesMaster" Target="/ppt/notesMasters/notesMaster1.xml" Id="Re7f0a977e6094f0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f5efc11e2cf460e" /><Relationship Type="http://schemas.openxmlformats.org/officeDocument/2006/relationships/notesMaster" Target="/ppt/notesMasters/notesMaster1.xml" Id="R575e584296934e6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281b61279e1649e9" /><Relationship Type="http://schemas.openxmlformats.org/officeDocument/2006/relationships/notesMaster" Target="/ppt/notesMasters/notesMaster1.xml" Id="R6d1cde6cedc846b1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8baea63235404be5" /><Relationship Type="http://schemas.openxmlformats.org/officeDocument/2006/relationships/notesMaster" Target="/ppt/notesMasters/notesMaster1.xml" Id="R4ef64b9520354714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6e4cc179ef4a4d6e" /><Relationship Type="http://schemas.openxmlformats.org/officeDocument/2006/relationships/notesMaster" Target="/ppt/notesMasters/notesMaster1.xml" Id="R090d528e100440ea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333273024a7f4bae" /><Relationship Type="http://schemas.openxmlformats.org/officeDocument/2006/relationships/notesMaster" Target="/ppt/notesMasters/notesMaster1.xml" Id="R6157cb72b3484f3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Introduce the benchmark repo and explain why its shape makes prompt efficiency visible.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scorecard before the live run so the audience understands the comparison criteria.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Turn the exercise into a repo-specific rewrite that mirrors the live implementation task.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4e50f0baa0340a1" /></Relationships>
</file>

<file path=ppt/slideLayouts/slideLayout1.xml><?xml version="1.0" encoding="utf-8"?>
<p:sldLayout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f3af2f1d174ed2" /><Relationship Type="http://schemas.openxmlformats.org/officeDocument/2006/relationships/theme" Target="/ppt/theme/theme1.xml" Id="R02b9aecb4eee461d" /><Relationship Type="http://schemas.openxmlformats.org/officeDocument/2006/relationships/slideLayout" Target="/ppt/slideLayouts/slideLayout2.xml" Id="R6c2ccd8b468e4e6b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8" r:id="Rc9f3af2f1d174ed2"/>
    <p:sldLayoutId xmlns:r="http://schemas.openxmlformats.org/officeDocument/2006/relationships" id="2147483649" r:id="R6c2ccd8b468e4e6b"/>
  </p:sldLayoutIdLst>
  <p:txStyles>
    <p:titleStyle>
      <a:lvl1pPr xmlns:a="http://schemas.openxmlformats.org/drawingml/2006/main" algn="ctr"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>
        <a:spcBef>
          <a:spcPts val="0"/>
        </a:spcBef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>
        <a:spcBef>
          <a:spcPts val="0"/>
        </a:spcBef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spcBef>
          <a:spcPts val="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spcBef>
          <a:spcPts val="0"/>
        </a:spcBef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spcBef>
          <a:spcPts val="0"/>
        </a:spcBef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17b6a3b18034b57" /><Relationship Type="http://schemas.openxmlformats.org/officeDocument/2006/relationships/notesSlide" Target="/ppt/notesSlides/notesSlide1.xml" Id="R6ad61a81c1a84d7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0544d7d6d1c4d19" /><Relationship Type="http://schemas.openxmlformats.org/officeDocument/2006/relationships/notesSlide" Target="/ppt/notesSlides/notesSlide2.xml" Id="R55a94db4b328404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0df0ca637844949" /><Relationship Type="http://schemas.openxmlformats.org/officeDocument/2006/relationships/notesSlide" Target="/ppt/notesSlides/notesSlide3.xml" Id="R4c0e2c9ff8f241f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af47591108f49d4" /><Relationship Type="http://schemas.openxmlformats.org/officeDocument/2006/relationships/notesSlide" Target="/ppt/notesSlides/notesSlide4.xml" Id="R4e747fcdff8f451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e3a5eb51b7d4061" /><Relationship Type="http://schemas.openxmlformats.org/officeDocument/2006/relationships/notesSlide" Target="/ppt/notesSlides/notesSlide5.xml" Id="R209493291a1e46f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c35902882354b77" /><Relationship Type="http://schemas.openxmlformats.org/officeDocument/2006/relationships/notesSlide" Target="/ppt/notesSlides/notesSlide6.xml" Id="R0cafb76492574fe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d453cd6b0ab4350" /><Relationship Type="http://schemas.openxmlformats.org/officeDocument/2006/relationships/notesSlide" Target="/ppt/notesSlides/notesSlide7.xml" Id="R97ba0cc17ad140d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3011bb87d8a4598" /><Relationship Type="http://schemas.openxmlformats.org/officeDocument/2006/relationships/notesSlide" Target="/ppt/notesSlides/notesSlide8.xml" Id="Ra41c9e08f6364cb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63a3db4c8c24183" /><Relationship Type="http://schemas.openxmlformats.org/officeDocument/2006/relationships/notesSlide" Target="/ppt/notesSlides/notesSlide9.xml" Id="Rae8fdd77949d4b7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7bc44f9184848bc" /><Relationship Type="http://schemas.openxmlformats.org/officeDocument/2006/relationships/notesSlide" Target="/ppt/notesSlides/notesSlide10.xml" Id="R2793fb3cb3cc42e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bbc2897a1144a19" /><Relationship Type="http://schemas.openxmlformats.org/officeDocument/2006/relationships/notesSlide" Target="/ppt/notesSlides/notesSlide11.xml" Id="R2ca08818307a42a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b2ce0f61eea4ef6" /><Relationship Type="http://schemas.openxmlformats.org/officeDocument/2006/relationships/notesSlide" Target="/ppt/notesSlides/notesSlide12.xml" Id="R5c85a674ba394ef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593cfa76691444b" /><Relationship Type="http://schemas.openxmlformats.org/officeDocument/2006/relationships/notesSlide" Target="/ppt/notesSlides/notesSlide13.xml" Id="R0c80cd678acc4ae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9f9fca645964246" /><Relationship Type="http://schemas.openxmlformats.org/officeDocument/2006/relationships/notesSlide" Target="/ppt/notesSlides/notesSlide14.xml" Id="R673f908a46be49a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1342e2bdf64f99" /><Relationship Type="http://schemas.openxmlformats.org/officeDocument/2006/relationships/notesSlide" Target="/ppt/notesSlides/notesSlide15.xml" Id="Ref97fa3c66044b5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a46d8252584110" /><Relationship Type="http://schemas.openxmlformats.org/officeDocument/2006/relationships/notesSlide" Target="/ppt/notesSlides/notesSlide16.xml" Id="Ra1baf5665a15482d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d7eb6d76224191" /><Relationship Type="http://schemas.openxmlformats.org/officeDocument/2006/relationships/notesSlide" Target="/ppt/notesSlides/notesSlide17.xml" Id="R0ecf39550ac041b2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b448cd516de48ef" /><Relationship Type="http://schemas.openxmlformats.org/officeDocument/2006/relationships/notesSlide" Target="/ppt/notesSlides/notesSlide18.xml" Id="R8e05098844914dc9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33ef9c397484ed7" /><Relationship Type="http://schemas.openxmlformats.org/officeDocument/2006/relationships/notesSlide" Target="/ppt/notesSlides/notesSlide19.xml" Id="R5e3667a680ab48d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397EB49-4C1E-4A0D-88CB-2CC0B0DEF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5BFA014-22C7-462E-88F2-A0278C5F9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389888"/>
            <a:ext cx="7772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Efficient Claude Code Workflows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BDDA9EF4-A0BC-4276-8517-6523C55CA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93392"/>
            <a:ext cx="65836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>
                <a:solidFill>
                  <a:srgbClr val="475569"/>
                </a:solidFill>
                <a:latin typeface="Arial"/>
                <a:ea typeface="Arial"/>
                <a:cs typeface="Arial"/>
              </a:rPr>
              <a:t>Practical agent workflows for data teams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31D4D77-FD0D-4B07-AD52-8A548FA62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999232"/>
            <a:ext cx="5303520" cy="14447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CBD5E1"/>
            </a:solidFill>
          </a:ln>
        </p:spPr>
        <p:txBody>
          <a:bodyPr xmlns:a="http://schemas.openxmlformats.org/drawingml/2006/main" wrap="square" lIns="2032" tIns="2032" rIns="2032" bIns="2032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11827"/>
                </a:solidFill>
                <a:latin typeface="Arial"/>
                <a:ea typeface="Arial"/>
                <a:cs typeface="Arial"/>
              </a:rPr>
              <a:t>Core idea</a:t>
            </a:r>
          </a:p>
          <a:p xmlns:a="http://schemas.openxmlformats.org/drawingml/2006/main">
            <a:pPr marL="0" indent="0">
              <a:buNone/>
            </a:pPr>
          </a:p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11827"/>
                </a:solidFill>
                <a:latin typeface="Arial"/>
                <a:ea typeface="Arial"/>
                <a:cs typeface="Arial"/>
              </a:rPr>
              <a:t>Claude Code is most useful when you treat it as a context-constrained engineering assistant, not as a magic repo oracle.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75EDD869-63ED-47AB-8C24-C12510DBD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2999232"/>
            <a:ext cx="5010912" cy="14447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10160">
            <a:solidFill>
              <a:srgbClr val="CBD5E1"/>
            </a:solidFill>
          </a:ln>
        </p:spPr>
        <p:txBody>
          <a:bodyPr xmlns:a="http://schemas.openxmlformats.org/drawingml/2006/main" wrap="square" lIns="2032" tIns="2032" rIns="2032" bIns="2032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11827"/>
                </a:solidFill>
                <a:latin typeface="Arial"/>
                <a:ea typeface="Arial"/>
                <a:cs typeface="Arial"/>
              </a:rPr>
              <a:t>Workshop outcome</a:t>
            </a:r>
          </a:p>
          <a:p xmlns:a="http://schemas.openxmlformats.org/drawingml/2006/main">
            <a:pPr marL="0" indent="0">
              <a:buNone/>
            </a:pPr>
          </a:p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11827"/>
                </a:solidFill>
                <a:latin typeface="Arial"/>
                <a:ea typeface="Arial"/>
                <a:cs typeface="Arial"/>
              </a:rPr>
              <a:t>People should leave with repeatable prompts, safer workflows, and fewer token-burning repo scans.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2D445ADF-824A-40B0-985F-BDCDC17FE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5806440"/>
            <a:ext cx="7315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Context engineering &gt; brute-force prompting</a:t>
            </a:r>
          </a:p>
        </p:txBody>
      </p:sp>
    </p:spTree>
    <p:extLst>
      <p:ext uri="{BB962C8B-B14F-4D97-AF65-F5344CB8AC3E}">
        <p14:creationId xmlns:p14="http://schemas.microsoft.com/office/powerpoint/2010/main" val="151863675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9821C75-BB80-42AF-A041-537A85A7B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5BE9D94-EE05-4345-B74A-34D3F5FFF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84048"/>
            <a:ext cx="11185855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Why bad Claude Code sessions happen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E96BE13A-4634-4CD5-B0C6-5A0591B2A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795528"/>
            <a:ext cx="11185855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475569"/>
                </a:solidFill>
                <a:latin typeface="Arial"/>
                <a:ea typeface="Arial"/>
                <a:cs typeface="Arial"/>
              </a:rPr>
              <a:t>Most failures are context failures, not intelligence failures.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D54BF4A8-4569-46A7-9366-05AB71679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088136"/>
            <a:ext cx="1118585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0D53B72D-DBE8-4EB3-8731-CE2D0401E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444752"/>
            <a:ext cx="5166360" cy="4526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CBD5E1"/>
            </a:solidFill>
          </a:ln>
        </p:spPr>
        <p:txBody>
          <a:bodyPr xmlns:a="http://schemas.openxmlformats.org/drawingml/2006/main" wrap="square" lIns="2794" tIns="2794" rIns="2794" bIns="2794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20">
                <a:solidFill>
                  <a:srgbClr val="111827"/>
                </a:solidFill>
                <a:latin typeface="Arial"/>
                <a:ea typeface="Arial"/>
                <a:cs typeface="Arial"/>
              </a:rPr>
              <a:t>Wrong mental model</a:t>
            </a:r>
          </a:p>
          <a:p xmlns:a="http://schemas.openxmlformats.org/drawingml/2006/main">
            <a:pPr marL="0" indent="0">
              <a:buNone/>
            </a:pPr>
          </a:p>
          <a:p xmlns:a="http://schemas.openxmlformats.org/drawingml/2006/main">
            <a:pPr marL="0" indent="0">
              <a:buNone/>
            </a:pPr>
            <a:r>
              <a:rPr sz="1420">
                <a:solidFill>
                  <a:srgbClr val="111827"/>
                </a:solidFill>
                <a:latin typeface="Arial"/>
                <a:ea typeface="Arial"/>
                <a:cs typeface="Arial"/>
              </a:rPr>
              <a:t>• People ask broad questions and hope the agent finds the right scope.</a:t>
            </a:r>
          </a:p>
          <a:p xmlns:a="http://schemas.openxmlformats.org/drawingml/2006/main">
            <a:pPr marL="0" indent="0">
              <a:buNone/>
            </a:pPr>
            <a:r>
              <a:rPr sz="1420">
                <a:solidFill>
                  <a:srgbClr val="111827"/>
                </a:solidFill>
                <a:latin typeface="Arial"/>
                <a:ea typeface="Arial"/>
                <a:cs typeface="Arial"/>
              </a:rPr>
              <a:t>• The agent loads too much irrelevant code and loses signal.</a:t>
            </a:r>
          </a:p>
          <a:p xmlns:a="http://schemas.openxmlformats.org/drawingml/2006/main">
            <a:pPr marL="0" indent="0">
              <a:buNone/>
            </a:pPr>
            <a:r>
              <a:rPr sz="1420">
                <a:solidFill>
                  <a:srgbClr val="111827"/>
                </a:solidFill>
                <a:latin typeface="Arial"/>
                <a:ea typeface="Arial"/>
                <a:cs typeface="Arial"/>
              </a:rPr>
              <a:t>• Sessions become long, noisy, and expensive.</a:t>
            </a:r>
          </a:p>
          <a:p xmlns:a="http://schemas.openxmlformats.org/drawingml/2006/main">
            <a:pPr marL="0" indent="0">
              <a:buNone/>
            </a:pPr>
            <a:r>
              <a:rPr sz="1420">
                <a:solidFill>
                  <a:srgbClr val="111827"/>
                </a:solidFill>
                <a:latin typeface="Arial"/>
                <a:ea typeface="Arial"/>
                <a:cs typeface="Arial"/>
              </a:rPr>
              <a:t>• Good users shape context before asking for work.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ACCD8899-FE80-4DC6-89F4-895048A55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44752"/>
            <a:ext cx="5349240" cy="4526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10160">
            <a:solidFill>
              <a:srgbClr val="CBD5E1"/>
            </a:solidFill>
          </a:ln>
        </p:spPr>
        <p:txBody>
          <a:bodyPr xmlns:a="http://schemas.openxmlformats.org/drawingml/2006/main" wrap="square" lIns="2794" tIns="2794" rIns="2794" bIns="2794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Opening prompt</a:t>
            </a:r>
          </a:p>
          <a:p xmlns:a="http://schemas.openxmlformats.org/drawingml/2006/main">
            <a:pPr marL="0" indent="0">
              <a:buNone/>
            </a:pP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Before answering, ask for any missing scope.</a:t>
            </a:r>
          </a:p>
          <a:p xmlns:a="http://schemas.openxmlformats.org/drawingml/2006/main">
            <a:pPr marL="0" indent="0">
              <a:buNone/>
            </a:pP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Do not scan the full repository unless you can justify it.</a:t>
            </a:r>
          </a:p>
          <a:p xmlns:a="http://schemas.openxmlformats.org/drawingml/2006/main">
            <a:pPr marL="0" indent="0">
              <a:buNone/>
            </a:pP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Return:</a:t>
            </a: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1. files/folders you need</a:t>
            </a: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2. assumptions</a:t>
            </a: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3. smallest useful next step</a:t>
            </a:r>
          </a:p>
        </p:txBody>
      </p:sp>
    </p:spTree>
    <p:extLst>
      <p:ext uri="{BB962C8B-B14F-4D97-AF65-F5344CB8AC3E}">
        <p14:creationId xmlns:p14="http://schemas.microsoft.com/office/powerpoint/2010/main" val="14008807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19AA2BE-B6C1-4F7F-8EAA-25721E164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67CBADB-9987-4292-B7A7-E43D4F321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84048"/>
            <a:ext cx="11185855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The 3 constraints that drive most bad sessions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E19D9D2-D90C-4B69-BB54-B598F0B47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795528"/>
            <a:ext cx="11185855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475569"/>
                </a:solidFill>
                <a:latin typeface="Arial"/>
                <a:ea typeface="Arial"/>
                <a:cs typeface="Arial"/>
              </a:rPr>
              <a:t>If people understand these, their prompts improve quickly.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A9A785C2-38A5-4119-AAEF-B31DEE2EA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088136"/>
            <a:ext cx="1118585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0B8859CF-05A8-4E3D-BE6B-BEAAB7A8A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1600200"/>
            <a:ext cx="2788920" cy="18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CBD5E1"/>
            </a:solidFill>
          </a:ln>
        </p:spPr>
        <p:txBody>
          <a:bodyPr xmlns:a="http://schemas.openxmlformats.org/drawingml/2006/main" wrap="square" lIns="2032" tIns="2032" rIns="2032" bIns="2032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111827"/>
                </a:solidFill>
                <a:latin typeface="Arial"/>
                <a:ea typeface="Arial"/>
                <a:cs typeface="Arial"/>
              </a:rPr>
              <a:t>Context window</a:t>
            </a:r>
          </a:p>
          <a:p xmlns:a="http://schemas.openxmlformats.org/drawingml/2006/main">
            <a:pPr marL="0" indent="0">
              <a:buNone/>
            </a:pPr>
          </a:p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111827"/>
                </a:solidFill>
                <a:latin typeface="Arial"/>
                <a:ea typeface="Arial"/>
                <a:cs typeface="Arial"/>
              </a:rPr>
              <a:t>Long sessions get noisy.</a:t>
            </a:r>
          </a:p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111827"/>
                </a:solidFill>
                <a:latin typeface="Arial"/>
                <a:ea typeface="Arial"/>
                <a:cs typeface="Arial"/>
              </a:rPr>
              <a:t>Old details compete with new ones.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F6E7BCD2-DC5D-407B-96E3-DCA4EBEF2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9664" y="1600200"/>
            <a:ext cx="2788920" cy="18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CBD5E1"/>
            </a:solidFill>
          </a:ln>
        </p:spPr>
        <p:txBody>
          <a:bodyPr xmlns:a="http://schemas.openxmlformats.org/drawingml/2006/main" wrap="square" lIns="2032" tIns="2032" rIns="2032" bIns="2032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111827"/>
                </a:solidFill>
                <a:latin typeface="Arial"/>
                <a:ea typeface="Arial"/>
                <a:cs typeface="Arial"/>
              </a:rPr>
              <a:t>Token budget</a:t>
            </a:r>
          </a:p>
          <a:p xmlns:a="http://schemas.openxmlformats.org/drawingml/2006/main">
            <a:pPr marL="0" indent="0">
              <a:buNone/>
            </a:pPr>
          </a:p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111827"/>
                </a:solidFill>
                <a:latin typeface="Arial"/>
                <a:ea typeface="Arial"/>
                <a:cs typeface="Arial"/>
              </a:rPr>
              <a:t>Huge scans are slow and expensive.</a:t>
            </a:r>
          </a:p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111827"/>
                </a:solidFill>
                <a:latin typeface="Arial"/>
                <a:ea typeface="Arial"/>
                <a:cs typeface="Arial"/>
              </a:rPr>
              <a:t>Summaries are cheaper than raw reads.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8DDD7040-9D09-4E62-93B2-CFF4C7265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0" y="1600200"/>
            <a:ext cx="2788920" cy="18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CBD5E1"/>
            </a:solidFill>
          </a:ln>
        </p:spPr>
        <p:txBody>
          <a:bodyPr xmlns:a="http://schemas.openxmlformats.org/drawingml/2006/main" wrap="square" lIns="2032" tIns="2032" rIns="2032" bIns="2032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111827"/>
                </a:solidFill>
                <a:latin typeface="Arial"/>
                <a:ea typeface="Arial"/>
                <a:cs typeface="Arial"/>
              </a:rPr>
              <a:t>Search scope</a:t>
            </a:r>
          </a:p>
          <a:p xmlns:a="http://schemas.openxmlformats.org/drawingml/2006/main">
            <a:pPr marL="0" indent="0">
              <a:buNone/>
            </a:pPr>
          </a:p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111827"/>
                </a:solidFill>
                <a:latin typeface="Arial"/>
                <a:ea typeface="Arial"/>
                <a:cs typeface="Arial"/>
              </a:rPr>
              <a:t>Wide searches create false leads.</a:t>
            </a:r>
          </a:p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111827"/>
                </a:solidFill>
                <a:latin typeface="Arial"/>
                <a:ea typeface="Arial"/>
                <a:cs typeface="Arial"/>
              </a:rPr>
              <a:t>Narrow scope creates precision.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478CD714-9806-46B6-A080-33DD70BDC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4572000"/>
            <a:ext cx="9372600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 w="10160">
            <a:solidFill>
              <a:srgbClr val="CBD5E1"/>
            </a:solidFill>
          </a:ln>
        </p:spPr>
        <p:txBody>
          <a:bodyPr xmlns:a="http://schemas.openxmlformats.org/drawingml/2006/main" wrap="square" lIns="2032" tIns="2032" rIns="2032" bIns="2032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20">
                <a:solidFill>
                  <a:srgbClr val="111827"/>
                </a:solidFill>
                <a:latin typeface="Arial"/>
                <a:ea typeface="Arial"/>
                <a:cs typeface="Arial"/>
              </a:rPr>
              <a:t>Control prompt</a:t>
            </a:r>
          </a:p>
          <a:p xmlns:a="http://schemas.openxmlformats.org/drawingml/2006/main">
            <a:pPr marL="0" indent="0">
              <a:buNone/>
            </a:pPr>
          </a:p>
          <a:p xmlns:a="http://schemas.openxmlformats.org/drawingml/2006/main">
            <a:pPr marL="0" indent="0">
              <a:buNone/>
            </a:pPr>
            <a:r>
              <a:rPr sz="1320">
                <a:solidFill>
                  <a:srgbClr val="111827"/>
                </a:solidFill>
                <a:latin typeface="Arial"/>
                <a:ea typeface="Arial"/>
                <a:cs typeface="Arial"/>
              </a:rPr>
              <a:t>Before answering, list the exact files or folders you need. Do not inspect the whole repo unless you can justify why.</a:t>
            </a:r>
          </a:p>
        </p:txBody>
      </p:sp>
    </p:spTree>
    <p:extLst>
      <p:ext uri="{BB962C8B-B14F-4D97-AF65-F5344CB8AC3E}">
        <p14:creationId xmlns:p14="http://schemas.microsoft.com/office/powerpoint/2010/main" val="111660880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9372D84-67DB-414F-BEE0-BCAC00671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8DD4BB6-9CB3-4480-B916-EBA3ED350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84048"/>
            <a:ext cx="11185855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Failure mode: wide repo scans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2E935ED-24AC-41CF-BA54-C6EC6DEA7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795528"/>
            <a:ext cx="11185855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475569"/>
                </a:solidFill>
                <a:latin typeface="Arial"/>
                <a:ea typeface="Arial"/>
                <a:cs typeface="Arial"/>
              </a:rPr>
              <a:t>Do not let a small question become a 13k-model scan.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9D2E949F-B6A2-42EE-876B-CD271761B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088136"/>
            <a:ext cx="1118585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A80208EA-4FFD-4269-BA4D-E81E14F59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444752"/>
            <a:ext cx="5166360" cy="4526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CBD5E1"/>
            </a:solidFill>
          </a:ln>
        </p:spPr>
        <p:txBody>
          <a:bodyPr xmlns:a="http://schemas.openxmlformats.org/drawingml/2006/main" wrap="square" lIns="2794" tIns="2794" rIns="2794" bIns="2794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20">
                <a:solidFill>
                  <a:srgbClr val="111827"/>
                </a:solidFill>
                <a:latin typeface="Arial"/>
                <a:ea typeface="Arial"/>
                <a:cs typeface="Arial"/>
              </a:rPr>
              <a:t>Symptom</a:t>
            </a:r>
          </a:p>
          <a:p xmlns:a="http://schemas.openxmlformats.org/drawingml/2006/main">
            <a:pPr marL="0" indent="0">
              <a:buNone/>
            </a:pPr>
          </a:p>
          <a:p xmlns:a="http://schemas.openxmlformats.org/drawingml/2006/main">
            <a:pPr marL="0" indent="0">
              <a:buNone/>
            </a:pPr>
            <a:r>
              <a:rPr sz="1420">
                <a:solidFill>
                  <a:srgbClr val="111827"/>
                </a:solidFill>
                <a:latin typeface="Arial"/>
                <a:ea typeface="Arial"/>
                <a:cs typeface="Arial"/>
              </a:rPr>
              <a:t>• Agent reads broadly before understanding the dependency boundary.</a:t>
            </a:r>
          </a:p>
          <a:p xmlns:a="http://schemas.openxmlformats.org/drawingml/2006/main">
            <a:pPr marL="0" indent="0">
              <a:buNone/>
            </a:pPr>
            <a:r>
              <a:rPr sz="1420">
                <a:solidFill>
                  <a:srgbClr val="111827"/>
                </a:solidFill>
                <a:latin typeface="Arial"/>
                <a:ea typeface="Arial"/>
                <a:cs typeface="Arial"/>
              </a:rPr>
              <a:t>• It spends tokens on irrelevant files.</a:t>
            </a:r>
          </a:p>
          <a:p xmlns:a="http://schemas.openxmlformats.org/drawingml/2006/main">
            <a:pPr marL="0" indent="0">
              <a:buNone/>
            </a:pPr>
            <a:r>
              <a:rPr sz="1420">
                <a:solidFill>
                  <a:srgbClr val="111827"/>
                </a:solidFill>
                <a:latin typeface="Arial"/>
                <a:ea typeface="Arial"/>
                <a:cs typeface="Arial"/>
              </a:rPr>
              <a:t>• It gives plausible but incomplete answers.</a:t>
            </a:r>
          </a:p>
          <a:p xmlns:a="http://schemas.openxmlformats.org/drawingml/2006/main">
            <a:pPr marL="0" indent="0">
              <a:buNone/>
            </a:pPr>
            <a:r>
              <a:rPr sz="1420">
                <a:solidFill>
                  <a:srgbClr val="111827"/>
                </a:solidFill>
                <a:latin typeface="Arial"/>
                <a:ea typeface="Arial"/>
                <a:cs typeface="Arial"/>
              </a:rPr>
              <a:t>• The same discovery work is repeated next time.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4E8B83D7-B727-48B2-BB8A-49F5272F3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44752"/>
            <a:ext cx="5349240" cy="4526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10160">
            <a:solidFill>
              <a:srgbClr val="CBD5E1"/>
            </a:solidFill>
          </a:ln>
        </p:spPr>
        <p:txBody>
          <a:bodyPr xmlns:a="http://schemas.openxmlformats.org/drawingml/2006/main" wrap="square" lIns="2794" tIns="2794" rIns="2794" bIns="2794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Bad vs better</a:t>
            </a:r>
          </a:p>
          <a:p xmlns:a="http://schemas.openxmlformats.org/drawingml/2006/main">
            <a:pPr marL="0" indent="0">
              <a:buNone/>
            </a:pP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Bad:</a:t>
            </a: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Which models are downstream of model_x?</a:t>
            </a:r>
          </a:p>
          <a:p xmlns:a="http://schemas.openxmlformats.org/drawingml/2006/main">
            <a:pPr marL="0" indent="0">
              <a:buNone/>
            </a:pP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Better:</a:t>
            </a: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Use docs/dbt_lineage.md first.</a:t>
            </a: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If missing, inspect only model_x and direct refs.</a:t>
            </a: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Expand one dependency layer at a time.</a:t>
            </a: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Stop and summarize before continuing.</a:t>
            </a:r>
          </a:p>
        </p:txBody>
      </p:sp>
    </p:spTree>
    <p:extLst>
      <p:ext uri="{BB962C8B-B14F-4D97-AF65-F5344CB8AC3E}">
        <p14:creationId xmlns:p14="http://schemas.microsoft.com/office/powerpoint/2010/main" val="3062824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517BA8A4-F761-4C32-A981-4C547A526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FC9E89E-C50A-4BE6-9493-C8AC7E911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84048"/>
            <a:ext cx="11185855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Better operating loop: discover once, reuse often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5DD34149-29A6-42D5-806D-EEC410B0F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795528"/>
            <a:ext cx="11185855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475569"/>
                </a:solidFill>
                <a:latin typeface="Arial"/>
                <a:ea typeface="Arial"/>
                <a:cs typeface="Arial"/>
              </a:rPr>
              <a:t>A small upfront map usually saves many expensive sessions later.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EF5FE6C3-DCB9-4E41-B869-C1AAB43E7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088136"/>
            <a:ext cx="1118585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E2C431C5-3DA6-4065-AD87-CBE932EFE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645920"/>
            <a:ext cx="2423160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0160">
            <a:solidFill>
              <a:srgbClr val="CBD5E1"/>
            </a:solidFill>
          </a:ln>
        </p:spPr>
        <p:txBody>
          <a:bodyPr xmlns:a="http://schemas.openxmlformats.org/drawingml/2006/main" wrap="square" lIns="2032" tIns="2032" rIns="2032" bIns="2032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111827"/>
                </a:solidFill>
                <a:latin typeface="Arial"/>
                <a:ea typeface="Arial"/>
                <a:cs typeface="Arial"/>
              </a:rPr>
              <a:t>1  Discover</a:t>
            </a:r>
          </a:p>
          <a:p xmlns:a="http://schemas.openxmlformats.org/drawingml/2006/main">
            <a:pPr marL="0" indent="0">
              <a:buNone/>
            </a:pPr>
          </a:p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111827"/>
                </a:solidFill>
                <a:latin typeface="Arial"/>
                <a:ea typeface="Arial"/>
                <a:cs typeface="Arial"/>
              </a:rPr>
              <a:t>Map architecture and conventions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9907E7F2-CCEA-4193-B037-0AA62E00E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4448" y="1645920"/>
            <a:ext cx="2423160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CBD5E1"/>
            </a:solidFill>
          </a:ln>
        </p:spPr>
        <p:txBody>
          <a:bodyPr xmlns:a="http://schemas.openxmlformats.org/drawingml/2006/main" wrap="square" lIns="2032" tIns="2032" rIns="2032" bIns="2032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111827"/>
                </a:solidFill>
                <a:latin typeface="Arial"/>
                <a:ea typeface="Arial"/>
                <a:cs typeface="Arial"/>
              </a:rPr>
              <a:t>2  Scope</a:t>
            </a:r>
          </a:p>
          <a:p xmlns:a="http://schemas.openxmlformats.org/drawingml/2006/main">
            <a:pPr marL="0" indent="0">
              <a:buNone/>
            </a:pPr>
          </a:p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111827"/>
                </a:solidFill>
                <a:latin typeface="Arial"/>
                <a:ea typeface="Arial"/>
                <a:cs typeface="Arial"/>
              </a:rPr>
              <a:t>Narrow to relevant paths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1BEE358A-4C0F-4F47-9FF7-315EA47F5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7376" y="1645920"/>
            <a:ext cx="2423160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CBD5E1"/>
            </a:solidFill>
          </a:ln>
        </p:spPr>
        <p:txBody>
          <a:bodyPr xmlns:a="http://schemas.openxmlformats.org/drawingml/2006/main" wrap="square" lIns="2032" tIns="2032" rIns="2032" bIns="2032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111827"/>
                </a:solidFill>
                <a:latin typeface="Arial"/>
                <a:ea typeface="Arial"/>
                <a:cs typeface="Arial"/>
              </a:rPr>
              <a:t>3  Plan</a:t>
            </a:r>
          </a:p>
          <a:p xmlns:a="http://schemas.openxmlformats.org/drawingml/2006/main">
            <a:pPr marL="0" indent="0">
              <a:buNone/>
            </a:pPr>
          </a:p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111827"/>
                </a:solidFill>
                <a:latin typeface="Arial"/>
                <a:ea typeface="Arial"/>
                <a:cs typeface="Arial"/>
              </a:rPr>
              <a:t>List assumptions and risks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0EFCCABA-3BF2-4B66-8689-AE6521191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0304" y="1645920"/>
            <a:ext cx="2423160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CBD5E1"/>
            </a:solidFill>
          </a:ln>
        </p:spPr>
        <p:txBody>
          <a:bodyPr xmlns:a="http://schemas.openxmlformats.org/drawingml/2006/main" wrap="square" lIns="2032" tIns="2032" rIns="2032" bIns="2032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111827"/>
                </a:solidFill>
                <a:latin typeface="Arial"/>
                <a:ea typeface="Arial"/>
                <a:cs typeface="Arial"/>
              </a:rPr>
              <a:t>4  Execute</a:t>
            </a:r>
          </a:p>
          <a:p xmlns:a="http://schemas.openxmlformats.org/drawingml/2006/main">
            <a:pPr marL="0" indent="0">
              <a:buNone/>
            </a:pPr>
          </a:p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111827"/>
                </a:solidFill>
                <a:latin typeface="Arial"/>
                <a:ea typeface="Arial"/>
                <a:cs typeface="Arial"/>
              </a:rPr>
              <a:t>Edit, test, validate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941DA292-1351-4A56-9C38-9145E5B2B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97680"/>
            <a:ext cx="9966960" cy="1051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10160">
            <a:solidFill>
              <a:srgbClr val="CBD5E1"/>
            </a:solidFill>
          </a:ln>
        </p:spPr>
        <p:txBody>
          <a:bodyPr xmlns:a="http://schemas.openxmlformats.org/drawingml/2006/main" wrap="square" lIns="2032" tIns="2032" rIns="2032" bIns="2032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111827"/>
                </a:solidFill>
                <a:latin typeface="Arial"/>
                <a:ea typeface="Arial"/>
                <a:cs typeface="Arial"/>
              </a:rPr>
              <a:t>Workflow prompt</a:t>
            </a:r>
          </a:p>
          <a:p xmlns:a="http://schemas.openxmlformats.org/drawingml/2006/main">
            <a:pPr marL="0" indent="0">
              <a:buNone/>
            </a:pPr>
          </a:p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111827"/>
                </a:solidFill>
                <a:latin typeface="Arial"/>
                <a:ea typeface="Arial"/>
                <a:cs typeface="Arial"/>
              </a:rPr>
              <a:t>We are in discovery mode. Do not modify files. Create a short plan for building reusable docs first, then wait.</a:t>
            </a:r>
          </a:p>
        </p:txBody>
      </p:sp>
    </p:spTree>
    <p:extLst>
      <p:ext uri="{BB962C8B-B14F-4D97-AF65-F5344CB8AC3E}">
        <p14:creationId xmlns:p14="http://schemas.microsoft.com/office/powerpoint/2010/main" val="208325618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2AC22075-536C-4245-BAE4-FF1FDDBD2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F293E89-E216-4A7F-9013-1582E464D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84048"/>
            <a:ext cx="11185855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Reusable artifact: repo map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776B2C1-A9EF-4BFA-8D33-C506F35DA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795528"/>
            <a:ext cx="11185855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475569"/>
                </a:solidFill>
                <a:latin typeface="Arial"/>
                <a:ea typeface="Arial"/>
                <a:cs typeface="Arial"/>
              </a:rPr>
              <a:t>Keep this concise. It is an index, not a second repository.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E5C3A455-F8AC-48D4-9FE3-D286B8EB8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088136"/>
            <a:ext cx="1118585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80A6A3D2-7033-46FB-8974-78A1E558D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444752"/>
            <a:ext cx="5166360" cy="4526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CBD5E1"/>
            </a:solidFill>
          </a:ln>
        </p:spPr>
        <p:txBody>
          <a:bodyPr xmlns:a="http://schemas.openxmlformats.org/drawingml/2006/main" wrap="square" lIns="2794" tIns="2794" rIns="2794" bIns="2794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20">
                <a:solidFill>
                  <a:srgbClr val="111827"/>
                </a:solidFill>
                <a:latin typeface="Arial"/>
                <a:ea typeface="Arial"/>
                <a:cs typeface="Arial"/>
              </a:rPr>
              <a:t>What it should contain</a:t>
            </a:r>
          </a:p>
          <a:p xmlns:a="http://schemas.openxmlformats.org/drawingml/2006/main">
            <a:pPr marL="0" indent="0">
              <a:buNone/>
            </a:pPr>
          </a:p>
          <a:p xmlns:a="http://schemas.openxmlformats.org/drawingml/2006/main">
            <a:pPr marL="0" indent="0">
              <a:buNone/>
            </a:pPr>
            <a:r>
              <a:rPr sz="1420">
                <a:solidFill>
                  <a:srgbClr val="111827"/>
                </a:solidFill>
                <a:latin typeface="Arial"/>
                <a:ea typeface="Arial"/>
                <a:cs typeface="Arial"/>
              </a:rPr>
              <a:t>• Major folders and ownership boundaries.</a:t>
            </a:r>
          </a:p>
          <a:p xmlns:a="http://schemas.openxmlformats.org/drawingml/2006/main">
            <a:pPr marL="0" indent="0">
              <a:buNone/>
            </a:pPr>
            <a:r>
              <a:rPr sz="1420">
                <a:solidFill>
                  <a:srgbClr val="111827"/>
                </a:solidFill>
                <a:latin typeface="Arial"/>
                <a:ea typeface="Arial"/>
                <a:cs typeface="Arial"/>
              </a:rPr>
              <a:t>• Build, test, and deploy entrypoints.</a:t>
            </a:r>
          </a:p>
          <a:p xmlns:a="http://schemas.openxmlformats.org/drawingml/2006/main">
            <a:pPr marL="0" indent="0">
              <a:buNone/>
            </a:pPr>
            <a:r>
              <a:rPr sz="1420">
                <a:solidFill>
                  <a:srgbClr val="111827"/>
                </a:solidFill>
                <a:latin typeface="Arial"/>
                <a:ea typeface="Arial"/>
                <a:cs typeface="Arial"/>
              </a:rPr>
              <a:t>• Data flow and dependency conventions.</a:t>
            </a:r>
          </a:p>
          <a:p xmlns:a="http://schemas.openxmlformats.org/drawingml/2006/main">
            <a:pPr marL="0" indent="0">
              <a:buNone/>
            </a:pPr>
            <a:r>
              <a:rPr sz="1420">
                <a:solidFill>
                  <a:srgbClr val="111827"/>
                </a:solidFill>
                <a:latin typeface="Arial"/>
                <a:ea typeface="Arial"/>
                <a:cs typeface="Arial"/>
              </a:rPr>
              <a:t>• Known commands and validation steps.</a:t>
            </a:r>
          </a:p>
          <a:p xmlns:a="http://schemas.openxmlformats.org/drawingml/2006/main">
            <a:pPr marL="0" indent="0">
              <a:buNone/>
            </a:pPr>
            <a:r>
              <a:rPr sz="1420">
                <a:solidFill>
                  <a:srgbClr val="111827"/>
                </a:solidFill>
                <a:latin typeface="Arial"/>
                <a:ea typeface="Arial"/>
                <a:cs typeface="Arial"/>
              </a:rPr>
              <a:t>• Areas the agent should not touch casually.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E5DD0F45-3EBD-41F9-BB7A-1C903B931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44752"/>
            <a:ext cx="5349240" cy="4526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10160">
            <a:solidFill>
              <a:srgbClr val="CBD5E1"/>
            </a:solidFill>
          </a:ln>
        </p:spPr>
        <p:txBody>
          <a:bodyPr xmlns:a="http://schemas.openxmlformats.org/drawingml/2006/main" wrap="square" lIns="2794" tIns="2794" rIns="2794" bIns="2794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PROMPT STARTER</a:t>
            </a:r>
          </a:p>
          <a:p xmlns:a="http://schemas.openxmlformats.org/drawingml/2006/main">
            <a:pPr marL="0" indent="0">
              <a:buNone/>
            </a:pP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Create docs/repo_map.md.</a:t>
            </a:r>
          </a:p>
          <a:p xmlns:a="http://schemas.openxmlformats.org/drawingml/2006/main">
            <a:pPr marL="0" indent="0">
              <a:buNone/>
            </a:pP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Include:</a:t>
            </a: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1. high-level architecture</a:t>
            </a: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2. important folders</a:t>
            </a: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3. build/test commands</a:t>
            </a: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4. data flow</a:t>
            </a: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5. risky areas</a:t>
            </a:r>
          </a:p>
          <a:p xmlns:a="http://schemas.openxmlformats.org/drawingml/2006/main">
            <a:pPr marL="0" indent="0">
              <a:buNone/>
            </a:pP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Keep it under 200 lines.</a:t>
            </a:r>
          </a:p>
        </p:txBody>
      </p:sp>
    </p:spTree>
    <p:extLst>
      <p:ext uri="{BB962C8B-B14F-4D97-AF65-F5344CB8AC3E}">
        <p14:creationId xmlns:p14="http://schemas.microsoft.com/office/powerpoint/2010/main" val="76185104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82623C6-5BAB-425D-9589-DA80758F0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5E9D3A5-BE91-4C9B-B6CB-FD21C0654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84048"/>
            <a:ext cx="11185855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Claude Code memory: CLAUDE.md, not vibes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AA97B1C9-C748-4508-B524-14AB06E10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795528"/>
            <a:ext cx="11185855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475569"/>
                </a:solidFill>
                <a:latin typeface="Arial"/>
                <a:ea typeface="Arial"/>
                <a:cs typeface="Arial"/>
              </a:rPr>
              <a:t>Project memory should contain stable rules, not every conversation detail.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3AE3BD2B-A312-4764-8C6B-9D2D41F10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088136"/>
            <a:ext cx="1118585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1B2B5E43-308C-4BDE-AFC6-5A2E29F24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444752"/>
            <a:ext cx="5166360" cy="4526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CBD5E1"/>
            </a:solidFill>
          </a:ln>
        </p:spPr>
        <p:txBody>
          <a:bodyPr xmlns:a="http://schemas.openxmlformats.org/drawingml/2006/main" wrap="square" lIns="2794" tIns="2794" rIns="2794" bIns="2794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20">
                <a:solidFill>
                  <a:srgbClr val="111827"/>
                </a:solidFill>
                <a:latin typeface="Arial"/>
                <a:ea typeface="Arial"/>
                <a:cs typeface="Arial"/>
              </a:rPr>
              <a:t>Use project memory deliberately</a:t>
            </a:r>
          </a:p>
          <a:p xmlns:a="http://schemas.openxmlformats.org/drawingml/2006/main">
            <a:pPr marL="0" indent="0">
              <a:buNone/>
            </a:pPr>
          </a:p>
          <a:p xmlns:a="http://schemas.openxmlformats.org/drawingml/2006/main">
            <a:pPr marL="0" indent="0">
              <a:buNone/>
            </a:pPr>
            <a:r>
              <a:rPr sz="1420">
                <a:solidFill>
                  <a:srgbClr val="111827"/>
                </a:solidFill>
                <a:latin typeface="Arial"/>
                <a:ea typeface="Arial"/>
                <a:cs typeface="Arial"/>
              </a:rPr>
              <a:t>• Put stable project rules in CLAUDE.md.</a:t>
            </a:r>
          </a:p>
          <a:p xmlns:a="http://schemas.openxmlformats.org/drawingml/2006/main">
            <a:pPr marL="0" indent="0">
              <a:buNone/>
            </a:pPr>
            <a:r>
              <a:rPr sz="1420">
                <a:solidFill>
                  <a:srgbClr val="111827"/>
                </a:solidFill>
                <a:latin typeface="Arial"/>
                <a:ea typeface="Arial"/>
                <a:cs typeface="Arial"/>
              </a:rPr>
              <a:t>• Use it for standards, commands, architecture decisions, and workflows.</a:t>
            </a:r>
          </a:p>
          <a:p xmlns:a="http://schemas.openxmlformats.org/drawingml/2006/main">
            <a:pPr marL="0" indent="0">
              <a:buNone/>
            </a:pPr>
            <a:r>
              <a:rPr sz="1420">
                <a:solidFill>
                  <a:srgbClr val="111827"/>
                </a:solidFill>
                <a:latin typeface="Arial"/>
                <a:ea typeface="Arial"/>
                <a:cs typeface="Arial"/>
              </a:rPr>
              <a:t>• Do not dump giant docs into it.</a:t>
            </a:r>
          </a:p>
          <a:p xmlns:a="http://schemas.openxmlformats.org/drawingml/2006/main">
            <a:pPr marL="0" indent="0">
              <a:buNone/>
            </a:pPr>
            <a:r>
              <a:rPr sz="1420">
                <a:solidFill>
                  <a:srgbClr val="111827"/>
                </a:solidFill>
                <a:latin typeface="Arial"/>
                <a:ea typeface="Arial"/>
                <a:cs typeface="Arial"/>
              </a:rPr>
              <a:t>• When Claude repeats a mistake, write the correction down.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4D85C288-A8E8-48BA-B9AC-B009A3D56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44752"/>
            <a:ext cx="5349240" cy="4526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10160">
            <a:solidFill>
              <a:srgbClr val="CBD5E1"/>
            </a:solidFill>
          </a:ln>
        </p:spPr>
        <p:txBody>
          <a:bodyPr xmlns:a="http://schemas.openxmlformats.org/drawingml/2006/main" wrap="square" lIns="2794" tIns="2794" rIns="2794" bIns="2794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PROMPT STARTER</a:t>
            </a:r>
          </a:p>
          <a:p xmlns:a="http://schemas.openxmlformats.org/drawingml/2006/main">
            <a:pPr marL="0" indent="0">
              <a:buNone/>
            </a:pP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Update CLAUDE.md with only stable project instructions.</a:t>
            </a:r>
          </a:p>
          <a:p xmlns:a="http://schemas.openxmlformats.org/drawingml/2006/main">
            <a:pPr marL="0" indent="0">
              <a:buNone/>
            </a:pP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Add:</a:t>
            </a: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- build command</a:t>
            </a: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- test command</a:t>
            </a: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- dbt naming conventions</a:t>
            </a: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- forbidden shortcuts</a:t>
            </a:r>
          </a:p>
          <a:p xmlns:a="http://schemas.openxmlformats.org/drawingml/2006/main">
            <a:pPr marL="0" indent="0">
              <a:buNone/>
            </a:pP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Keep it concise and specific.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0CCDC439-8387-4F6B-AFCC-55A4223A5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83096"/>
            <a:ext cx="11185855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70">
                <a:solidFill>
                  <a:srgbClr val="475569"/>
                </a:solidFill>
                <a:latin typeface="Arial"/>
                <a:ea typeface="Arial"/>
                <a:cs typeface="Arial"/>
              </a:rPr>
              <a:t>Claude Code docs recommend concise CLAUDE.md files; oversized memory consumes context.</a:t>
            </a:r>
          </a:p>
        </p:txBody>
      </p:sp>
    </p:spTree>
    <p:extLst>
      <p:ext uri="{BB962C8B-B14F-4D97-AF65-F5344CB8AC3E}">
        <p14:creationId xmlns:p14="http://schemas.microsoft.com/office/powerpoint/2010/main" val="171315031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2DDE7F87-9A29-43E4-8EDB-A1BC18AA4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768C627-02AD-4DE2-BA95-DEDB3B8D0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84048"/>
            <a:ext cx="11185855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Scoping: the cheapest quality improvement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61D5C99-B269-48DE-9EFC-1E2AD93BD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795528"/>
            <a:ext cx="11185855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475569"/>
                </a:solidFill>
                <a:latin typeface="Arial"/>
                <a:ea typeface="Arial"/>
                <a:cs typeface="Arial"/>
              </a:rPr>
              <a:t>Most token waste is self-inflicted by vague scope.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2EA62E40-F31C-4E72-886D-C2B689D45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088136"/>
            <a:ext cx="1118585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4FB19DD9-F919-454F-847D-73F9E9DFF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444752"/>
            <a:ext cx="5166360" cy="4526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CBD5E1"/>
            </a:solidFill>
          </a:ln>
        </p:spPr>
        <p:txBody>
          <a:bodyPr xmlns:a="http://schemas.openxmlformats.org/drawingml/2006/main" wrap="square" lIns="2794" tIns="2794" rIns="2794" bIns="2794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20">
                <a:solidFill>
                  <a:srgbClr val="111827"/>
                </a:solidFill>
                <a:latin typeface="Arial"/>
                <a:ea typeface="Arial"/>
                <a:cs typeface="Arial"/>
              </a:rPr>
              <a:t>Rules</a:t>
            </a:r>
          </a:p>
          <a:p xmlns:a="http://schemas.openxmlformats.org/drawingml/2006/main">
            <a:pPr marL="0" indent="0">
              <a:buNone/>
            </a:pPr>
          </a:p>
          <a:p xmlns:a="http://schemas.openxmlformats.org/drawingml/2006/main">
            <a:pPr marL="0" indent="0">
              <a:buNone/>
            </a:pPr>
            <a:r>
              <a:rPr sz="1420">
                <a:solidFill>
                  <a:srgbClr val="111827"/>
                </a:solidFill>
                <a:latin typeface="Arial"/>
                <a:ea typeface="Arial"/>
                <a:cs typeface="Arial"/>
              </a:rPr>
              <a:t>• Name exact folders or files.</a:t>
            </a:r>
          </a:p>
          <a:p xmlns:a="http://schemas.openxmlformats.org/drawingml/2006/main">
            <a:pPr marL="0" indent="0">
              <a:buNone/>
            </a:pPr>
            <a:r>
              <a:rPr sz="1420">
                <a:solidFill>
                  <a:srgbClr val="111827"/>
                </a:solidFill>
                <a:latin typeface="Arial"/>
                <a:ea typeface="Arial"/>
                <a:cs typeface="Arial"/>
              </a:rPr>
              <a:t>• Name what to ignore.</a:t>
            </a:r>
          </a:p>
          <a:p xmlns:a="http://schemas.openxmlformats.org/drawingml/2006/main">
            <a:pPr marL="0" indent="0">
              <a:buNone/>
            </a:pPr>
            <a:r>
              <a:rPr sz="1420">
                <a:solidFill>
                  <a:srgbClr val="111827"/>
                </a:solidFill>
                <a:latin typeface="Arial"/>
                <a:ea typeface="Arial"/>
                <a:cs typeface="Arial"/>
              </a:rPr>
              <a:t>• Limit dependency expansion step by step.</a:t>
            </a:r>
          </a:p>
          <a:p xmlns:a="http://schemas.openxmlformats.org/drawingml/2006/main">
            <a:pPr marL="0" indent="0">
              <a:buNone/>
            </a:pPr>
            <a:r>
              <a:rPr sz="1420">
                <a:solidFill>
                  <a:srgbClr val="111827"/>
                </a:solidFill>
                <a:latin typeface="Arial"/>
                <a:ea typeface="Arial"/>
                <a:cs typeface="Arial"/>
              </a:rPr>
              <a:t>• Ask for justification before broadening scope.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BA329F4B-BA51-4973-8DE1-AF5D5841F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44752"/>
            <a:ext cx="5349240" cy="4526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10160">
            <a:solidFill>
              <a:srgbClr val="CBD5E1"/>
            </a:solidFill>
          </a:ln>
        </p:spPr>
        <p:txBody>
          <a:bodyPr xmlns:a="http://schemas.openxmlformats.org/drawingml/2006/main" wrap="square" lIns="2794" tIns="2794" rIns="2794" bIns="2794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PROMPT STARTER</a:t>
            </a:r>
          </a:p>
          <a:p xmlns:a="http://schemas.openxmlformats.org/drawingml/2006/main">
            <a:pPr marL="0" indent="0">
              <a:buNone/>
            </a:pP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Scope:</a:t>
            </a: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- models/silver/customer/</a:t>
            </a: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- models/gold/customer_reporting/</a:t>
            </a:r>
          </a:p>
          <a:p xmlns:a="http://schemas.openxmlformats.org/drawingml/2006/main">
            <a:pPr marL="0" indent="0">
              <a:buNone/>
            </a:pP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Ignore:</a:t>
            </a: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- archived/</a:t>
            </a: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- snapshots/</a:t>
            </a: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- unrelated marts/</a:t>
            </a:r>
          </a:p>
          <a:p xmlns:a="http://schemas.openxmlformats.org/drawingml/2006/main">
            <a:pPr marL="0" indent="0">
              <a:buNone/>
            </a:pP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If you need more files, ask and explain why.</a:t>
            </a:r>
          </a:p>
        </p:txBody>
      </p:sp>
    </p:spTree>
    <p:extLst>
      <p:ext uri="{BB962C8B-B14F-4D97-AF65-F5344CB8AC3E}">
        <p14:creationId xmlns:p14="http://schemas.microsoft.com/office/powerpoint/2010/main" val="88995814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4CD6FE12-B785-4634-AC42-7F85E1D43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B44CB74-0496-4B0C-ABA0-05EA1989B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84048"/>
            <a:ext cx="11185855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Plan before editing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224543C7-2502-4374-8C80-44AE13694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795528"/>
            <a:ext cx="11185855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475569"/>
                </a:solidFill>
                <a:latin typeface="Arial"/>
                <a:ea typeface="Arial"/>
                <a:cs typeface="Arial"/>
              </a:rPr>
              <a:t>Production work needs diagnosis, risk review, and validation before file edits.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6DEA5B36-45D7-4F8D-B8FE-8F4E865F7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088136"/>
            <a:ext cx="1118585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CC3BC258-8CC2-431E-A146-AC0AEAB27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444752"/>
            <a:ext cx="5166360" cy="4526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CBD5E1"/>
            </a:solidFill>
          </a:ln>
        </p:spPr>
        <p:txBody>
          <a:bodyPr xmlns:a="http://schemas.openxmlformats.org/drawingml/2006/main" wrap="square" lIns="2794" tIns="2794" rIns="2794" bIns="2794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20">
                <a:solidFill>
                  <a:srgbClr val="111827"/>
                </a:solidFill>
                <a:latin typeface="Arial"/>
                <a:ea typeface="Arial"/>
                <a:cs typeface="Arial"/>
              </a:rPr>
              <a:t>Separate diagnosis from action</a:t>
            </a:r>
          </a:p>
          <a:p xmlns:a="http://schemas.openxmlformats.org/drawingml/2006/main">
            <a:pPr marL="0" indent="0">
              <a:buNone/>
            </a:pPr>
          </a:p>
          <a:p xmlns:a="http://schemas.openxmlformats.org/drawingml/2006/main">
            <a:pPr marL="0" indent="0">
              <a:buNone/>
            </a:pPr>
            <a:r>
              <a:rPr sz="1420">
                <a:solidFill>
                  <a:srgbClr val="111827"/>
                </a:solidFill>
                <a:latin typeface="Arial"/>
                <a:ea typeface="Arial"/>
                <a:cs typeface="Arial"/>
              </a:rPr>
              <a:t>• First inspect the implementation.</a:t>
            </a:r>
          </a:p>
          <a:p xmlns:a="http://schemas.openxmlformats.org/drawingml/2006/main">
            <a:pPr marL="0" indent="0">
              <a:buNone/>
            </a:pPr>
            <a:r>
              <a:rPr sz="1420">
                <a:solidFill>
                  <a:srgbClr val="111827"/>
                </a:solidFill>
                <a:latin typeface="Arial"/>
                <a:ea typeface="Arial"/>
                <a:cs typeface="Arial"/>
              </a:rPr>
              <a:t>• Then list assumptions and risks.</a:t>
            </a:r>
          </a:p>
          <a:p xmlns:a="http://schemas.openxmlformats.org/drawingml/2006/main">
            <a:pPr marL="0" indent="0">
              <a:buNone/>
            </a:pPr>
            <a:r>
              <a:rPr sz="1420">
                <a:solidFill>
                  <a:srgbClr val="111827"/>
                </a:solidFill>
                <a:latin typeface="Arial"/>
                <a:ea typeface="Arial"/>
                <a:cs typeface="Arial"/>
              </a:rPr>
              <a:t>• Then propose the smallest safe change.</a:t>
            </a:r>
          </a:p>
          <a:p xmlns:a="http://schemas.openxmlformats.org/drawingml/2006/main">
            <a:pPr marL="0" indent="0">
              <a:buNone/>
            </a:pPr>
            <a:r>
              <a:rPr sz="1420">
                <a:solidFill>
                  <a:srgbClr val="111827"/>
                </a:solidFill>
                <a:latin typeface="Arial"/>
                <a:ea typeface="Arial"/>
                <a:cs typeface="Arial"/>
              </a:rPr>
              <a:t>• Only then allow file edits.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14D23E66-C075-4257-861A-B8A12B711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44752"/>
            <a:ext cx="5349240" cy="4526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10160">
            <a:solidFill>
              <a:srgbClr val="CBD5E1"/>
            </a:solidFill>
          </a:ln>
        </p:spPr>
        <p:txBody>
          <a:bodyPr xmlns:a="http://schemas.openxmlformats.org/drawingml/2006/main" wrap="square" lIns="2794" tIns="2794" rIns="2794" bIns="2794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PROMPT STARTER</a:t>
            </a:r>
          </a:p>
          <a:p xmlns:a="http://schemas.openxmlformats.org/drawingml/2006/main">
            <a:pPr marL="0" indent="0">
              <a:buNone/>
            </a:pP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First inspect the current implementation.</a:t>
            </a:r>
          </a:p>
          <a:p xmlns:a="http://schemas.openxmlformats.org/drawingml/2006/main">
            <a:pPr marL="0" indent="0">
              <a:buNone/>
            </a:pP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Do not modify files yet.</a:t>
            </a:r>
          </a:p>
          <a:p xmlns:a="http://schemas.openxmlformats.org/drawingml/2006/main">
            <a:pPr marL="0" indent="0">
              <a:buNone/>
            </a:pP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Return:</a:t>
            </a: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1. current behavior</a:t>
            </a: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2. proposed change</a:t>
            </a: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3. risks</a:t>
            </a: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4. tests to run</a:t>
            </a: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5. files you would edit</a:t>
            </a:r>
          </a:p>
        </p:txBody>
      </p:sp>
    </p:spTree>
    <p:extLst>
      <p:ext uri="{BB962C8B-B14F-4D97-AF65-F5344CB8AC3E}">
        <p14:creationId xmlns:p14="http://schemas.microsoft.com/office/powerpoint/2010/main" val="165311139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21CAD2E-3ED3-4F77-8912-399EB892F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B3E7B05-2907-42B2-9915-AA7B8A888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84048"/>
            <a:ext cx="11185855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dbt impact analysis: practical pattern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9D1CE612-F254-40E6-94EA-D241C50D7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795528"/>
            <a:ext cx="11185855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475569"/>
                </a:solidFill>
                <a:latin typeface="Arial"/>
                <a:ea typeface="Arial"/>
                <a:cs typeface="Arial"/>
              </a:rPr>
              <a:t>This is the pattern behind your original advice.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FF8D2180-A37D-43DB-BC39-DB63E9CC4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088136"/>
            <a:ext cx="1118585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06622170-46CF-4FF9-9857-3B8840691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444752"/>
            <a:ext cx="5166360" cy="4526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CBD5E1"/>
            </a:solidFill>
          </a:ln>
        </p:spPr>
        <p:txBody>
          <a:bodyPr xmlns:a="http://schemas.openxmlformats.org/drawingml/2006/main" wrap="square" lIns="2794" tIns="2794" rIns="2794" bIns="2794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20">
                <a:solidFill>
                  <a:srgbClr val="111827"/>
                </a:solidFill>
                <a:latin typeface="Arial"/>
                <a:ea typeface="Arial"/>
                <a:cs typeface="Arial"/>
              </a:rPr>
              <a:t>For large dbt projects</a:t>
            </a:r>
          </a:p>
          <a:p xmlns:a="http://schemas.openxmlformats.org/drawingml/2006/main">
            <a:pPr marL="0" indent="0">
              <a:buNone/>
            </a:pPr>
          </a:p>
          <a:p xmlns:a="http://schemas.openxmlformats.org/drawingml/2006/main">
            <a:pPr marL="0" indent="0">
              <a:buNone/>
            </a:pPr>
            <a:r>
              <a:rPr sz="1420">
                <a:solidFill>
                  <a:srgbClr val="111827"/>
                </a:solidFill>
                <a:latin typeface="Arial"/>
                <a:ea typeface="Arial"/>
                <a:cs typeface="Arial"/>
              </a:rPr>
              <a:t>• Use existing lineage docs first if available.</a:t>
            </a:r>
          </a:p>
          <a:p xmlns:a="http://schemas.openxmlformats.org/drawingml/2006/main">
            <a:pPr marL="0" indent="0">
              <a:buNone/>
            </a:pPr>
            <a:r>
              <a:rPr sz="1420">
                <a:solidFill>
                  <a:srgbClr val="111827"/>
                </a:solidFill>
                <a:latin typeface="Arial"/>
                <a:ea typeface="Arial"/>
                <a:cs typeface="Arial"/>
              </a:rPr>
              <a:t>• Inspect from the changed model outward.</a:t>
            </a:r>
          </a:p>
          <a:p xmlns:a="http://schemas.openxmlformats.org/drawingml/2006/main">
            <a:pPr marL="0" indent="0">
              <a:buNone/>
            </a:pPr>
            <a:r>
              <a:rPr sz="1420">
                <a:solidFill>
                  <a:srgbClr val="111827"/>
                </a:solidFill>
                <a:latin typeface="Arial"/>
                <a:ea typeface="Arial"/>
                <a:cs typeface="Arial"/>
              </a:rPr>
              <a:t>• Expand one dependency layer at a time.</a:t>
            </a:r>
          </a:p>
          <a:p xmlns:a="http://schemas.openxmlformats.org/drawingml/2006/main">
            <a:pPr marL="0" indent="0">
              <a:buNone/>
            </a:pPr>
            <a:r>
              <a:rPr sz="1420">
                <a:solidFill>
                  <a:srgbClr val="111827"/>
                </a:solidFill>
                <a:latin typeface="Arial"/>
                <a:ea typeface="Arial"/>
                <a:cs typeface="Arial"/>
              </a:rPr>
              <a:t>• Persist useful lineage conclusions for future tasks.</a:t>
            </a:r>
          </a:p>
          <a:p xmlns:a="http://schemas.openxmlformats.org/drawingml/2006/main">
            <a:pPr marL="0" indent="0">
              <a:buNone/>
            </a:pPr>
            <a:r>
              <a:rPr sz="1420">
                <a:solidFill>
                  <a:srgbClr val="111827"/>
                </a:solidFill>
                <a:latin typeface="Arial"/>
                <a:ea typeface="Arial"/>
                <a:cs typeface="Arial"/>
              </a:rPr>
              <a:t>• Do not inspect every model file by default.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8F3BD8D5-5A72-4768-8514-1E8A255E9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44752"/>
            <a:ext cx="5349240" cy="4526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10160">
            <a:solidFill>
              <a:srgbClr val="CBD5E1"/>
            </a:solidFill>
          </a:ln>
        </p:spPr>
        <p:txBody>
          <a:bodyPr xmlns:a="http://schemas.openxmlformats.org/drawingml/2006/main" wrap="square" lIns="2794" tIns="2794" rIns="2794" bIns="2794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PROMPT STARTER</a:t>
            </a:r>
          </a:p>
          <a:p xmlns:a="http://schemas.openxmlformats.org/drawingml/2006/main">
            <a:pPr marL="0" indent="0">
              <a:buNone/>
            </a:pP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Task: assess impact of changing model_x.</a:t>
            </a:r>
          </a:p>
          <a:p xmlns:a="http://schemas.openxmlformats.org/drawingml/2006/main">
            <a:pPr marL="0" indent="0">
              <a:buNone/>
            </a:pP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Steps:</a:t>
            </a: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1. check existing lineage docs</a:t>
            </a: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2. inspect model_x only</a:t>
            </a: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3. list direct children</a:t>
            </a: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4. expand one layer if needed</a:t>
            </a: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5. save summary to docs/dbt_lineage_notes.md</a:t>
            </a:r>
          </a:p>
        </p:txBody>
      </p:sp>
    </p:spTree>
    <p:extLst>
      <p:ext uri="{BB962C8B-B14F-4D97-AF65-F5344CB8AC3E}">
        <p14:creationId xmlns:p14="http://schemas.microsoft.com/office/powerpoint/2010/main" val="192631482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505D7374-10BD-4348-8EA6-010669576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7400D25-8C51-4C3B-B6F0-96D15CE94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84048"/>
            <a:ext cx="11185855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Token hygiene for long sessions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25C47EBF-10B3-4FC5-B192-4B3C0C468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795528"/>
            <a:ext cx="11185855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475569"/>
                </a:solidFill>
                <a:latin typeface="Arial"/>
                <a:ea typeface="Arial"/>
                <a:cs typeface="Arial"/>
              </a:rPr>
              <a:t>Use summaries and isolated research to keep the main thread clean.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7356216B-330D-4046-9193-E1E62EBDC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088136"/>
            <a:ext cx="1118585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7B8FD125-0C94-4E18-A527-5E5F6FB6D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444752"/>
            <a:ext cx="5166360" cy="4526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CBD5E1"/>
            </a:solidFill>
          </a:ln>
        </p:spPr>
        <p:txBody>
          <a:bodyPr xmlns:a="http://schemas.openxmlformats.org/drawingml/2006/main" wrap="square" lIns="2794" tIns="2794" rIns="2794" bIns="2794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20">
                <a:solidFill>
                  <a:srgbClr val="111827"/>
                </a:solidFill>
                <a:latin typeface="Arial"/>
                <a:ea typeface="Arial"/>
                <a:cs typeface="Arial"/>
              </a:rPr>
              <a:t>Keep the main context clean</a:t>
            </a:r>
          </a:p>
          <a:p xmlns:a="http://schemas.openxmlformats.org/drawingml/2006/main">
            <a:pPr marL="0" indent="0">
              <a:buNone/>
            </a:pPr>
          </a:p>
          <a:p xmlns:a="http://schemas.openxmlformats.org/drawingml/2006/main">
            <a:pPr marL="0" indent="0">
              <a:buNone/>
            </a:pPr>
            <a:r>
              <a:rPr sz="1420">
                <a:solidFill>
                  <a:srgbClr val="111827"/>
                </a:solidFill>
                <a:latin typeface="Arial"/>
                <a:ea typeface="Arial"/>
                <a:cs typeface="Arial"/>
              </a:rPr>
              <a:t>• Summarize before continuing.</a:t>
            </a:r>
          </a:p>
          <a:p xmlns:a="http://schemas.openxmlformats.org/drawingml/2006/main">
            <a:pPr marL="0" indent="0">
              <a:buNone/>
            </a:pPr>
            <a:r>
              <a:rPr sz="1420">
                <a:solidFill>
                  <a:srgbClr val="111827"/>
                </a:solidFill>
                <a:latin typeface="Arial"/>
                <a:ea typeface="Arial"/>
                <a:cs typeface="Arial"/>
              </a:rPr>
              <a:t>• Compact or restart between major tasks.</a:t>
            </a:r>
          </a:p>
          <a:p xmlns:a="http://schemas.openxmlformats.org/drawingml/2006/main">
            <a:pPr marL="0" indent="0">
              <a:buNone/>
            </a:pPr>
            <a:r>
              <a:rPr sz="1420">
                <a:solidFill>
                  <a:srgbClr val="111827"/>
                </a:solidFill>
                <a:latin typeface="Arial"/>
                <a:ea typeface="Arial"/>
                <a:cs typeface="Arial"/>
              </a:rPr>
              <a:t>• Move stable findings into markdown artifacts.</a:t>
            </a:r>
          </a:p>
          <a:p xmlns:a="http://schemas.openxmlformats.org/drawingml/2006/main">
            <a:pPr marL="0" indent="0">
              <a:buNone/>
            </a:pPr>
            <a:r>
              <a:rPr sz="1420">
                <a:solidFill>
                  <a:srgbClr val="111827"/>
                </a:solidFill>
                <a:latin typeface="Arial"/>
                <a:ea typeface="Arial"/>
                <a:cs typeface="Arial"/>
              </a:rPr>
              <a:t>• Use subagents for noisy research when available.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D3C5E3B-D705-401C-BBC9-0ABB03139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44752"/>
            <a:ext cx="5349240" cy="4526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10160">
            <a:solidFill>
              <a:srgbClr val="CBD5E1"/>
            </a:solidFill>
          </a:ln>
        </p:spPr>
        <p:txBody>
          <a:bodyPr xmlns:a="http://schemas.openxmlformats.org/drawingml/2006/main" wrap="square" lIns="2794" tIns="2794" rIns="2794" bIns="2794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PROMPT STARTER</a:t>
            </a:r>
          </a:p>
          <a:p xmlns:a="http://schemas.openxmlformats.org/drawingml/2006/main">
            <a:pPr marL="0" indent="0">
              <a:buNone/>
            </a:pP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Summarize the current findings into docs/task_notes.md.</a:t>
            </a:r>
          </a:p>
          <a:p xmlns:a="http://schemas.openxmlformats.org/drawingml/2006/main">
            <a:pPr marL="0" indent="0">
              <a:buNone/>
            </a:pP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Then continue using that file as the source of truth.</a:t>
            </a: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Avoid repeating the same repository scan.</a:t>
            </a:r>
          </a:p>
        </p:txBody>
      </p:sp>
    </p:spTree>
    <p:extLst>
      <p:ext uri="{BB962C8B-B14F-4D97-AF65-F5344CB8AC3E}">
        <p14:creationId xmlns:p14="http://schemas.microsoft.com/office/powerpoint/2010/main" val="61261629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A9E9DD8-40C7-4C10-8B5D-29B36CF71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C42F899-61E4-4948-A998-1F89F1BFA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84048"/>
            <a:ext cx="11185855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Suggested team artifact set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BC1197F0-5126-480F-9A4F-A6C0125D0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795528"/>
            <a:ext cx="11185855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475569"/>
                </a:solidFill>
                <a:latin typeface="Arial"/>
                <a:ea typeface="Arial"/>
                <a:cs typeface="Arial"/>
              </a:rPr>
              <a:t>Give people reusable context, not a blank prompt box every morning.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79DD3514-4C93-42EC-866D-88DC7DC5A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088136"/>
            <a:ext cx="1118585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7A6A25C9-5709-46B7-A735-0A92190A1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1481328"/>
            <a:ext cx="3017520" cy="5852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CBD5E1"/>
            </a:solidFill>
          </a:ln>
        </p:spPr>
        <p:txBody>
          <a:bodyPr xmlns:a="http://schemas.openxmlformats.org/drawingml/2006/main" wrap="square" lIns="2032" tIns="2032" rIns="2032" bIns="2032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80">
                <a:solidFill>
                  <a:srgbClr val="111827"/>
                </a:solidFill>
                <a:latin typeface="Arial"/>
                <a:ea typeface="Arial"/>
                <a:cs typeface="Arial"/>
              </a:rPr>
              <a:t>docs/repo_map.md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95459653-C686-4937-8825-A004F4923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0208" y="1481328"/>
            <a:ext cx="7315200" cy="5852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CBD5E1"/>
            </a:solidFill>
          </a:ln>
        </p:spPr>
        <p:txBody>
          <a:bodyPr xmlns:a="http://schemas.openxmlformats.org/drawingml/2006/main" wrap="square" lIns="2032" tIns="2032" rIns="2032" bIns="2032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80">
                <a:solidFill>
                  <a:srgbClr val="111827"/>
                </a:solidFill>
                <a:latin typeface="Arial"/>
                <a:ea typeface="Arial"/>
                <a:cs typeface="Arial"/>
              </a:rPr>
              <a:t>Repository structure, commands, risky areas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35A8DE28-292A-45CD-9079-189636AE5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2157984"/>
            <a:ext cx="3017520" cy="5852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10160">
            <a:solidFill>
              <a:srgbClr val="CBD5E1"/>
            </a:solidFill>
          </a:ln>
        </p:spPr>
        <p:txBody>
          <a:bodyPr xmlns:a="http://schemas.openxmlformats.org/drawingml/2006/main" wrap="square" lIns="2032" tIns="2032" rIns="2032" bIns="2032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80">
                <a:solidFill>
                  <a:srgbClr val="111827"/>
                </a:solidFill>
                <a:latin typeface="Arial"/>
                <a:ea typeface="Arial"/>
                <a:cs typeface="Arial"/>
              </a:rPr>
              <a:t>docs/team_conventions.md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0B38C152-9D68-4FF2-BDE8-2B7358814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0208" y="2157984"/>
            <a:ext cx="7315200" cy="5852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10160">
            <a:solidFill>
              <a:srgbClr val="CBD5E1"/>
            </a:solidFill>
          </a:ln>
        </p:spPr>
        <p:txBody>
          <a:bodyPr xmlns:a="http://schemas.openxmlformats.org/drawingml/2006/main" wrap="square" lIns="2032" tIns="2032" rIns="2032" bIns="2032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80">
                <a:solidFill>
                  <a:srgbClr val="111827"/>
                </a:solidFill>
                <a:latin typeface="Arial"/>
                <a:ea typeface="Arial"/>
                <a:cs typeface="Arial"/>
              </a:rPr>
              <a:t>Naming, layer conventions, code review rules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158F75A6-D349-41FC-9F0B-FC6337052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2834640"/>
            <a:ext cx="3017520" cy="5852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CBD5E1"/>
            </a:solidFill>
          </a:ln>
        </p:spPr>
        <p:txBody>
          <a:bodyPr xmlns:a="http://schemas.openxmlformats.org/drawingml/2006/main" wrap="square" lIns="2032" tIns="2032" rIns="2032" bIns="2032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80">
                <a:solidFill>
                  <a:srgbClr val="111827"/>
                </a:solidFill>
                <a:latin typeface="Arial"/>
                <a:ea typeface="Arial"/>
                <a:cs typeface="Arial"/>
              </a:rPr>
              <a:t>docs/dbt_lineage.md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4ED8A0DC-3D20-4D97-8D18-CCFD7F720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0208" y="2834640"/>
            <a:ext cx="7315200" cy="5852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CBD5E1"/>
            </a:solidFill>
          </a:ln>
        </p:spPr>
        <p:txBody>
          <a:bodyPr xmlns:a="http://schemas.openxmlformats.org/drawingml/2006/main" wrap="square" lIns="2032" tIns="2032" rIns="2032" bIns="2032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80">
                <a:solidFill>
                  <a:srgbClr val="111827"/>
                </a:solidFill>
                <a:latin typeface="Arial"/>
                <a:ea typeface="Arial"/>
                <a:cs typeface="Arial"/>
              </a:rPr>
              <a:t>Important model dependencies and impact notes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CAF5F467-5CA2-4C3C-8E30-4E520FB95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511296"/>
            <a:ext cx="3017520" cy="5852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10160">
            <a:solidFill>
              <a:srgbClr val="CBD5E1"/>
            </a:solidFill>
          </a:ln>
        </p:spPr>
        <p:txBody>
          <a:bodyPr xmlns:a="http://schemas.openxmlformats.org/drawingml/2006/main" wrap="square" lIns="2032" tIns="2032" rIns="2032" bIns="2032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80">
                <a:solidFill>
                  <a:srgbClr val="111827"/>
                </a:solidFill>
                <a:latin typeface="Arial"/>
                <a:ea typeface="Arial"/>
                <a:cs typeface="Arial"/>
              </a:rPr>
              <a:t>docs/runbooks/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B053B971-63FF-4337-90D0-10408BCFE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0208" y="3511296"/>
            <a:ext cx="7315200" cy="5852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10160">
            <a:solidFill>
              <a:srgbClr val="CBD5E1"/>
            </a:solidFill>
          </a:ln>
        </p:spPr>
        <p:txBody>
          <a:bodyPr xmlns:a="http://schemas.openxmlformats.org/drawingml/2006/main" wrap="square" lIns="2032" tIns="2032" rIns="2032" bIns="2032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80">
                <a:solidFill>
                  <a:srgbClr val="111827"/>
                </a:solidFill>
                <a:latin typeface="Arial"/>
                <a:ea typeface="Arial"/>
                <a:cs typeface="Arial"/>
              </a:rPr>
              <a:t>Common operational procedures and validation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0B5EC9CD-D141-4B72-8171-20571BF66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187952"/>
            <a:ext cx="3017520" cy="5852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CBD5E1"/>
            </a:solidFill>
          </a:ln>
        </p:spPr>
        <p:txBody>
          <a:bodyPr xmlns:a="http://schemas.openxmlformats.org/drawingml/2006/main" wrap="square" lIns="2032" tIns="2032" rIns="2032" bIns="2032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80">
                <a:solidFill>
                  <a:srgbClr val="111827"/>
                </a:solidFill>
                <a:latin typeface="Arial"/>
                <a:ea typeface="Arial"/>
                <a:cs typeface="Arial"/>
              </a:rPr>
              <a:t>CLAUDE.md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FE4018A1-B951-4389-96EF-92D4F79FB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0208" y="4187952"/>
            <a:ext cx="7315200" cy="5852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CBD5E1"/>
            </a:solidFill>
          </a:ln>
        </p:spPr>
        <p:txBody>
          <a:bodyPr xmlns:a="http://schemas.openxmlformats.org/drawingml/2006/main" wrap="square" lIns="2032" tIns="2032" rIns="2032" bIns="2032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80">
                <a:solidFill>
                  <a:srgbClr val="111827"/>
                </a:solidFill>
                <a:latin typeface="Arial"/>
                <a:ea typeface="Arial"/>
                <a:cs typeface="Arial"/>
              </a:rPr>
              <a:t>Stable instructions loaded into Claude Code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3D74C4CE-25BE-4C49-AA05-0175D6873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5532120"/>
            <a:ext cx="964692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 w="10160">
            <a:solidFill>
              <a:srgbClr val="CBD5E1"/>
            </a:solidFill>
          </a:ln>
        </p:spPr>
        <p:txBody>
          <a:bodyPr xmlns:a="http://schemas.openxmlformats.org/drawingml/2006/main" wrap="square" lIns="2032" tIns="2032" rIns="2032" bIns="2032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111827"/>
                </a:solidFill>
                <a:latin typeface="Arial"/>
                <a:ea typeface="Arial"/>
                <a:cs typeface="Arial"/>
              </a:rPr>
              <a:t>Team setup prompt</a:t>
            </a:r>
          </a:p>
          <a:p xmlns:a="http://schemas.openxmlformats.org/drawingml/2006/main">
            <a:pPr marL="0" indent="0">
              <a:buNone/>
            </a:pPr>
          </a:p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111827"/>
                </a:solidFill>
                <a:latin typeface="Arial"/>
                <a:ea typeface="Arial"/>
                <a:cs typeface="Arial"/>
              </a:rPr>
              <a:t>Review the repository and propose which reusable artifacts are missing. Do not create files yet. Return a priority list.</a:t>
            </a:r>
          </a:p>
        </p:txBody>
      </p:sp>
    </p:spTree>
    <p:extLst>
      <p:ext uri="{BB962C8B-B14F-4D97-AF65-F5344CB8AC3E}">
        <p14:creationId xmlns:p14="http://schemas.microsoft.com/office/powerpoint/2010/main" val="8252739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44E37DCC-7D7D-4C9E-B9A1-B38C0B25D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E4A09AE-192F-499B-9AAE-9C22F32D7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84048"/>
            <a:ext cx="11185855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Default prompt template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EEF9108D-7E7F-4C44-88C8-0847F6266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795528"/>
            <a:ext cx="11185855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475569"/>
                </a:solidFill>
                <a:latin typeface="Arial"/>
                <a:ea typeface="Arial"/>
                <a:cs typeface="Arial"/>
              </a:rPr>
              <a:t>Use this when someone is unsure how to ask.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8433C2A4-B309-4374-8A84-1C8AC2F84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088136"/>
            <a:ext cx="1118585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5D1271BC-B7B6-4389-8E28-A098F92E2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444752"/>
            <a:ext cx="5166360" cy="4526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CBD5E1"/>
            </a:solidFill>
          </a:ln>
        </p:spPr>
        <p:txBody>
          <a:bodyPr xmlns:a="http://schemas.openxmlformats.org/drawingml/2006/main" wrap="square" lIns="2794" tIns="2794" rIns="2794" bIns="2794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20">
                <a:solidFill>
                  <a:srgbClr val="111827"/>
                </a:solidFill>
                <a:latin typeface="Arial"/>
                <a:ea typeface="Arial"/>
                <a:cs typeface="Arial"/>
              </a:rPr>
              <a:t>Template sections</a:t>
            </a:r>
          </a:p>
          <a:p xmlns:a="http://schemas.openxmlformats.org/drawingml/2006/main">
            <a:pPr marL="0" indent="0">
              <a:buNone/>
            </a:pPr>
          </a:p>
          <a:p xmlns:a="http://schemas.openxmlformats.org/drawingml/2006/main">
            <a:pPr marL="0" indent="0">
              <a:buNone/>
            </a:pPr>
            <a:r>
              <a:rPr sz="1420">
                <a:solidFill>
                  <a:srgbClr val="111827"/>
                </a:solidFill>
                <a:latin typeface="Arial"/>
                <a:ea typeface="Arial"/>
                <a:cs typeface="Arial"/>
              </a:rPr>
              <a:t>• Context: what system/repo/pipeline is this?</a:t>
            </a:r>
          </a:p>
          <a:p xmlns:a="http://schemas.openxmlformats.org/drawingml/2006/main">
            <a:pPr marL="0" indent="0">
              <a:buNone/>
            </a:pPr>
            <a:r>
              <a:rPr sz="1420">
                <a:solidFill>
                  <a:srgbClr val="111827"/>
                </a:solidFill>
                <a:latin typeface="Arial"/>
                <a:ea typeface="Arial"/>
                <a:cs typeface="Arial"/>
              </a:rPr>
              <a:t>• Scope: files, folders, models, DAGs, tables.</a:t>
            </a:r>
          </a:p>
          <a:p xmlns:a="http://schemas.openxmlformats.org/drawingml/2006/main">
            <a:pPr marL="0" indent="0">
              <a:buNone/>
            </a:pPr>
            <a:r>
              <a:rPr sz="1420">
                <a:solidFill>
                  <a:srgbClr val="111827"/>
                </a:solidFill>
                <a:latin typeface="Arial"/>
                <a:ea typeface="Arial"/>
                <a:cs typeface="Arial"/>
              </a:rPr>
              <a:t>• Goal: decision, diagnosis, change, or explanation.</a:t>
            </a:r>
          </a:p>
          <a:p xmlns:a="http://schemas.openxmlformats.org/drawingml/2006/main">
            <a:pPr marL="0" indent="0">
              <a:buNone/>
            </a:pPr>
            <a:r>
              <a:rPr sz="1420">
                <a:solidFill>
                  <a:srgbClr val="111827"/>
                </a:solidFill>
                <a:latin typeface="Arial"/>
                <a:ea typeface="Arial"/>
                <a:cs typeface="Arial"/>
              </a:rPr>
              <a:t>• Constraints: what must not break.</a:t>
            </a:r>
          </a:p>
          <a:p xmlns:a="http://schemas.openxmlformats.org/drawingml/2006/main">
            <a:pPr marL="0" indent="0">
              <a:buNone/>
            </a:pPr>
            <a:r>
              <a:rPr sz="1420">
                <a:solidFill>
                  <a:srgbClr val="111827"/>
                </a:solidFill>
                <a:latin typeface="Arial"/>
                <a:ea typeface="Arial"/>
                <a:cs typeface="Arial"/>
              </a:rPr>
              <a:t>• Output: plan, diff, SQL, markdown, checklist.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84681E52-7EFB-49BA-BF9B-482E2667D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44752"/>
            <a:ext cx="5349240" cy="4526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10160">
            <a:solidFill>
              <a:srgbClr val="CBD5E1"/>
            </a:solidFill>
          </a:ln>
        </p:spPr>
        <p:txBody>
          <a:bodyPr xmlns:a="http://schemas.openxmlformats.org/drawingml/2006/main" wrap="square" lIns="2794" tIns="2794" rIns="2794" bIns="2794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Copy / paste template</a:t>
            </a:r>
          </a:p>
          <a:p xmlns:a="http://schemas.openxmlformats.org/drawingml/2006/main">
            <a:pPr marL="0" indent="0">
              <a:buNone/>
            </a:pP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Context:</a:t>
            </a: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&lt;what system / repo / pipeline is this?&gt;</a:t>
            </a:r>
          </a:p>
          <a:p xmlns:a="http://schemas.openxmlformats.org/drawingml/2006/main">
            <a:pPr marL="0" indent="0">
              <a:buNone/>
            </a:pP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Scope:</a:t>
            </a: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&lt;files, folders, models, DAGs, tables&gt;</a:t>
            </a:r>
          </a:p>
          <a:p xmlns:a="http://schemas.openxmlformats.org/drawingml/2006/main">
            <a:pPr marL="0" indent="0">
              <a:buNone/>
            </a:pP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Goal:</a:t>
            </a: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&lt;what decision or change is needed?&gt;</a:t>
            </a:r>
          </a:p>
          <a:p xmlns:a="http://schemas.openxmlformats.org/drawingml/2006/main">
            <a:pPr marL="0" indent="0">
              <a:buNone/>
            </a:pP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Constraints:</a:t>
            </a: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&lt;what must not break?&gt;</a:t>
            </a:r>
          </a:p>
          <a:p xmlns:a="http://schemas.openxmlformats.org/drawingml/2006/main">
            <a:pPr marL="0" indent="0">
              <a:buNone/>
            </a:pP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Output:</a:t>
            </a: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&lt;plan, diff, SQL, markdown, checklist&gt;</a:t>
            </a:r>
          </a:p>
        </p:txBody>
      </p:sp>
    </p:spTree>
    <p:extLst>
      <p:ext uri="{BB962C8B-B14F-4D97-AF65-F5344CB8AC3E}">
        <p14:creationId xmlns:p14="http://schemas.microsoft.com/office/powerpoint/2010/main" val="127066722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2C8F52F-5DFA-40F8-9731-EBFDFF973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E71983F-8EB1-4FAA-824F-3B7E350B3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84048"/>
            <a:ext cx="11185855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Claude-Code-specific features worth knowing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4D419F7-E9C7-49BD-8C81-915F15D59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795528"/>
            <a:ext cx="11185855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475569"/>
                </a:solidFill>
                <a:latin typeface="Arial"/>
                <a:ea typeface="Arial"/>
                <a:cs typeface="Arial"/>
              </a:rPr>
              <a:t>Feature names should be verified against your company-installed Claude Code version.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27EC363A-F705-431A-B62B-26C1049A7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088136"/>
            <a:ext cx="1118585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0C2CB033-F0C9-4FC0-A5F7-A6929AB2C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444752"/>
            <a:ext cx="5166360" cy="4526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CBD5E1"/>
            </a:solidFill>
          </a:ln>
        </p:spPr>
        <p:txBody>
          <a:bodyPr xmlns:a="http://schemas.openxmlformats.org/drawingml/2006/main" wrap="square" lIns="2794" tIns="2794" rIns="2794" bIns="2794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20">
                <a:solidFill>
                  <a:srgbClr val="111827"/>
                </a:solidFill>
                <a:latin typeface="Arial"/>
                <a:ea typeface="Arial"/>
                <a:cs typeface="Arial"/>
              </a:rPr>
              <a:t>Use features to control context</a:t>
            </a:r>
          </a:p>
          <a:p xmlns:a="http://schemas.openxmlformats.org/drawingml/2006/main">
            <a:pPr marL="0" indent="0">
              <a:buNone/>
            </a:pPr>
          </a:p>
          <a:p xmlns:a="http://schemas.openxmlformats.org/drawingml/2006/main">
            <a:pPr marL="0" indent="0">
              <a:buNone/>
            </a:pPr>
            <a:r>
              <a:rPr sz="1420">
                <a:solidFill>
                  <a:srgbClr val="111827"/>
                </a:solidFill>
                <a:latin typeface="Arial"/>
                <a:ea typeface="Arial"/>
                <a:cs typeface="Arial"/>
              </a:rPr>
              <a:t>• /init can generate or improve a starting CLAUDE.md.</a:t>
            </a:r>
          </a:p>
          <a:p xmlns:a="http://schemas.openxmlformats.org/drawingml/2006/main">
            <a:pPr marL="0" indent="0">
              <a:buNone/>
            </a:pPr>
            <a:r>
              <a:rPr sz="1420">
                <a:solidFill>
                  <a:srgbClr val="111827"/>
                </a:solidFill>
                <a:latin typeface="Arial"/>
                <a:ea typeface="Arial"/>
                <a:cs typeface="Arial"/>
              </a:rPr>
              <a:t>• /compact reduces context size in long sessions.</a:t>
            </a:r>
          </a:p>
          <a:p xmlns:a="http://schemas.openxmlformats.org/drawingml/2006/main">
            <a:pPr marL="0" indent="0">
              <a:buNone/>
            </a:pPr>
            <a:r>
              <a:rPr sz="1420">
                <a:solidFill>
                  <a:srgbClr val="111827"/>
                </a:solidFill>
                <a:latin typeface="Arial"/>
                <a:ea typeface="Arial"/>
                <a:cs typeface="Arial"/>
              </a:rPr>
              <a:t>• Subagents can isolate noisy research and return summaries.</a:t>
            </a:r>
          </a:p>
          <a:p xmlns:a="http://schemas.openxmlformats.org/drawingml/2006/main">
            <a:pPr marL="0" indent="0">
              <a:buNone/>
            </a:pPr>
            <a:r>
              <a:rPr sz="1420">
                <a:solidFill>
                  <a:srgbClr val="111827"/>
                </a:solidFill>
                <a:latin typeface="Arial"/>
                <a:ea typeface="Arial"/>
                <a:cs typeface="Arial"/>
              </a:rPr>
              <a:t>• Skills capture repeated workflows without always loading details.</a:t>
            </a:r>
          </a:p>
          <a:p xmlns:a="http://schemas.openxmlformats.org/drawingml/2006/main">
            <a:pPr marL="0" indent="0">
              <a:buNone/>
            </a:pPr>
            <a:r>
              <a:rPr sz="1420">
                <a:solidFill>
                  <a:srgbClr val="111827"/>
                </a:solidFill>
                <a:latin typeface="Arial"/>
                <a:ea typeface="Arial"/>
                <a:cs typeface="Arial"/>
              </a:rPr>
              <a:t>• Hooks can enforce deterministic actions like formatting or validation.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5727FA56-7ABA-4D55-9062-9367B889D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44752"/>
            <a:ext cx="5349240" cy="4526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10160">
            <a:solidFill>
              <a:srgbClr val="CBD5E1"/>
            </a:solidFill>
          </a:ln>
        </p:spPr>
        <p:txBody>
          <a:bodyPr xmlns:a="http://schemas.openxmlformats.org/drawingml/2006/main" wrap="square" lIns="2794" tIns="2794" rIns="2794" bIns="2794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PROMPT STARTER</a:t>
            </a:r>
          </a:p>
          <a:p xmlns:a="http://schemas.openxmlformats.org/drawingml/2006/main">
            <a:pPr marL="0" indent="0">
              <a:buNone/>
            </a:pP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/init</a:t>
            </a:r>
          </a:p>
          <a:p xmlns:a="http://schemas.openxmlformats.org/drawingml/2006/main">
            <a:pPr marL="0" indent="0">
              <a:buNone/>
            </a:pP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/compact</a:t>
            </a:r>
          </a:p>
          <a:p xmlns:a="http://schemas.openxmlformats.org/drawingml/2006/main">
            <a:pPr marL="0" indent="0">
              <a:buNone/>
            </a:pP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Use a subagent for noisy research:</a:t>
            </a: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"Research this dependency chain and return only the summary."</a:t>
            </a:r>
          </a:p>
          <a:p xmlns:a="http://schemas.openxmlformats.org/drawingml/2006/main">
            <a:pPr marL="0" indent="0">
              <a:buNone/>
            </a:pP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Create a skill when the same workflow is repeated.</a:t>
            </a:r>
          </a:p>
        </p:txBody>
      </p:sp>
    </p:spTree>
    <p:extLst>
      <p:ext uri="{BB962C8B-B14F-4D97-AF65-F5344CB8AC3E}">
        <p14:creationId xmlns:p14="http://schemas.microsoft.com/office/powerpoint/2010/main" val="184752825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1113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0228603-DDC4-44FE-B9B5-5A6279B65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1219200" cy="5715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/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9FE2F2-E495-468D-9D45-FBBF9FA95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85800"/>
            <a:ext cx="2095500" cy="266700"/>
          </a:xfrm>
          <a:prstGeom xmlns:a="http://schemas.openxmlformats.org/drawingml/2006/main" prst="rect">
            <a:avLst/>
          </a:prstGeom>
          <a:ln xmlns:a="http://schemas.openxmlformats.org/drawingml/2006/main" w="0"/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D3C8"/>
                </a:solidFill>
              </a:defRPr>
            </a:pPr>
            <a:r>
              <a:rPr sz="1350" b="1">
                <a:solidFill>
                  <a:srgbClr val="FFD3C8"/>
                </a:solidFill>
              </a:rPr>
              <a:t>SANDBOX REPO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C025EB-66E2-4EFD-8248-AC3447ADA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9650"/>
            <a:ext cx="10858500" cy="609600"/>
          </a:xfrm>
          <a:prstGeom xmlns:a="http://schemas.openxmlformats.org/drawingml/2006/main" prst="rect">
            <a:avLst/>
          </a:prstGeom>
          <a:ln xmlns:a="http://schemas.openxmlformats.org/drawingml/2006/main" w="0"/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6F7"/>
                </a:solidFill>
              </a:defRPr>
            </a:pPr>
            <a:r>
              <a:rPr sz="2550" b="1">
                <a:solidFill>
                  <a:srgbClr val="F5F6F7"/>
                </a:solidFill>
              </a:rPr>
              <a:t>Portfolio Prompt Efficiency Lab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1EDB1E-A661-424C-990A-E5EE08B91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43050"/>
            <a:ext cx="10668000" cy="495300"/>
          </a:xfrm>
          <a:prstGeom xmlns:a="http://schemas.openxmlformats.org/drawingml/2006/main" prst="rect">
            <a:avLst/>
          </a:prstGeom>
          <a:ln xmlns:a="http://schemas.openxmlformats.org/drawingml/2006/main" w="0"/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97A0AA"/>
                </a:solidFill>
              </a:defRPr>
            </a:pPr>
            <a:r>
              <a:rPr sz="1500" b="0">
                <a:solidFill>
                  <a:srgbClr val="97A0AA"/>
                </a:solidFill>
              </a:rPr>
              <a:t>A compact dbt + DuckDB benchmark repo that makes prompt quality visibly matter.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830EC2-B2DA-45DB-90D1-44D794C1C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47900"/>
            <a:ext cx="4953000" cy="371475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1A1D21"/>
          </a:solidFill>
          <a:ln xmlns:a="http://schemas.openxmlformats.org/drawingml/2006/main" w="9525">
            <a:solidFill>
              <a:srgbClr val="2B313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681246-CD8E-4EAB-9EA1-D40824BBA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14600"/>
            <a:ext cx="2857500" cy="304800"/>
          </a:xfrm>
          <a:prstGeom xmlns:a="http://schemas.openxmlformats.org/drawingml/2006/main" prst="rect">
            <a:avLst/>
          </a:prstGeom>
          <a:ln xmlns:a="http://schemas.openxmlformats.org/drawingml/2006/main" w="0"/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6F7"/>
                </a:solidFill>
              </a:defRPr>
            </a:pPr>
            <a:r>
              <a:rPr sz="1800" b="1">
                <a:solidFill>
                  <a:srgbClr val="F5F6F7"/>
                </a:solidFill>
              </a:rPr>
              <a:t>Why this repo works live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871D18-98AF-4164-9299-A85B2E7A7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990850"/>
            <a:ext cx="4286250" cy="514350"/>
          </a:xfrm>
          <a:prstGeom xmlns:a="http://schemas.openxmlformats.org/drawingml/2006/main" prst="rect">
            <a:avLst/>
          </a:prstGeom>
          <a:ln xmlns:a="http://schemas.openxmlformats.org/drawingml/2006/main" w="0"/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D6D8DC"/>
                </a:solidFill>
              </a:defRPr>
            </a:pPr>
            <a:r>
              <a:rPr sz="1725" b="0">
                <a:solidFill>
                  <a:srgbClr val="D6D8DC"/>
                </a:solidFill>
              </a:rPr>
              <a:t>• Relevant slice: portfolio reporting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0762A0-7C24-41FF-B735-86EF53404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505200"/>
            <a:ext cx="4286250" cy="514350"/>
          </a:xfrm>
          <a:prstGeom xmlns:a="http://schemas.openxmlformats.org/drawingml/2006/main" prst="rect">
            <a:avLst/>
          </a:prstGeom>
          <a:ln xmlns:a="http://schemas.openxmlformats.org/drawingml/2006/main" w="0"/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D6D8DC"/>
                </a:solidFill>
              </a:defRPr>
            </a:pPr>
            <a:r>
              <a:rPr sz="1725" b="0">
                <a:solidFill>
                  <a:srgbClr val="D6D8DC"/>
                </a:solidFill>
              </a:rPr>
              <a:t>• Irrelevant slice: compliance and archived models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ACE45F-35C2-4A5F-9864-449DD8D25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019550"/>
            <a:ext cx="4286250" cy="514350"/>
          </a:xfrm>
          <a:prstGeom xmlns:a="http://schemas.openxmlformats.org/drawingml/2006/main" prst="rect">
            <a:avLst/>
          </a:prstGeom>
          <a:ln xmlns:a="http://schemas.openxmlformats.org/drawingml/2006/main" w="0"/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D6D8DC"/>
                </a:solidFill>
              </a:defRPr>
            </a:pPr>
            <a:r>
              <a:rPr sz="1725" b="0">
                <a:solidFill>
                  <a:srgbClr val="D6D8DC"/>
                </a:solidFill>
              </a:rPr>
              <a:t>• Small enough to inspect, rich enough for joins and tests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8D095C-3C92-4400-BAEB-83FC8CC5A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533900"/>
            <a:ext cx="4286250" cy="514350"/>
          </a:xfrm>
          <a:prstGeom xmlns:a="http://schemas.openxmlformats.org/drawingml/2006/main" prst="rect">
            <a:avLst/>
          </a:prstGeom>
          <a:ln xmlns:a="http://schemas.openxmlformats.org/drawingml/2006/main" w="0"/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D6D8DC"/>
                </a:solidFill>
              </a:defRPr>
            </a:pPr>
            <a:r>
              <a:rPr sz="1725" b="0">
                <a:solidFill>
                  <a:srgbClr val="D6D8DC"/>
                </a:solidFill>
              </a:rPr>
              <a:t>• Reusable artifacts reduce repeated repo scans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7231E8-EA02-48BF-B227-7836F9A0B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247900"/>
            <a:ext cx="5524500" cy="371475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20242A"/>
          </a:solidFill>
          <a:ln xmlns:a="http://schemas.openxmlformats.org/drawingml/2006/main" w="9525">
            <a:solidFill>
              <a:srgbClr val="2B313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4D7BF0-08C3-4BC9-AB32-66EE61059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514600"/>
            <a:ext cx="2286000" cy="304800"/>
          </a:xfrm>
          <a:prstGeom xmlns:a="http://schemas.openxmlformats.org/drawingml/2006/main" prst="rect">
            <a:avLst/>
          </a:prstGeom>
          <a:ln xmlns:a="http://schemas.openxmlformats.org/drawingml/2006/main" w="0"/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6F7"/>
                </a:solidFill>
              </a:defRPr>
            </a:pPr>
            <a:r>
              <a:rPr sz="1800" b="1">
                <a:solidFill>
                  <a:srgbClr val="F5F6F7"/>
                </a:solidFill>
              </a:rPr>
              <a:t>Three-task arc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AB7BB2-126D-4EF3-A6CB-A27767D91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289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4A"/>
          </a:solidFill>
          <a:ln xmlns:a="http://schemas.openxmlformats.org/drawingml/2006/main" w="0"/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5F6F7"/>
                </a:solidFill>
              </a:defRPr>
            </a:pPr>
            <a:r>
              <a:rPr sz="1650" b="1">
                <a:solidFill>
                  <a:srgbClr val="F5F6F7"/>
                </a:solidFill>
              </a:rPr>
              <a:t>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46D754-3A5B-4380-B84E-DD92B76D8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009900"/>
            <a:ext cx="1905000" cy="285750"/>
          </a:xfrm>
          <a:prstGeom xmlns:a="http://schemas.openxmlformats.org/drawingml/2006/main" prst="rect">
            <a:avLst/>
          </a:prstGeom>
          <a:ln xmlns:a="http://schemas.openxmlformats.org/drawingml/2006/main" w="0"/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5F6F7"/>
                </a:solidFill>
              </a:defRPr>
            </a:pPr>
            <a:r>
              <a:rPr sz="1650" b="1">
                <a:solidFill>
                  <a:srgbClr val="F5F6F7"/>
                </a:solidFill>
              </a:rPr>
              <a:t>Discovery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455292B-6A52-4C3B-B2A8-82D3F4F65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295650"/>
            <a:ext cx="4095750" cy="495300"/>
          </a:xfrm>
          <a:prstGeom xmlns:a="http://schemas.openxmlformats.org/drawingml/2006/main" prst="rect">
            <a:avLst/>
          </a:prstGeom>
          <a:ln xmlns:a="http://schemas.openxmlformats.org/drawingml/2006/main" w="0"/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6D8DC"/>
                </a:solidFill>
              </a:defRPr>
            </a:pPr>
            <a:r>
              <a:rPr sz="1350" b="0">
                <a:solidFill>
                  <a:srgbClr val="D6D8DC"/>
                </a:solidFill>
              </a:rPr>
              <a:t>Create docs/repo_map.md without widening scope.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17427D-44AE-4913-BCFC-16D9E299F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052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4A"/>
          </a:solidFill>
          <a:ln xmlns:a="http://schemas.openxmlformats.org/drawingml/2006/main" w="0"/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5F6F7"/>
                </a:solidFill>
              </a:defRPr>
            </a:pPr>
            <a:r>
              <a:rPr sz="1650" b="1">
                <a:solidFill>
                  <a:srgbClr val="F5F6F7"/>
                </a:solidFill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EB05EAF-A066-4B0B-BDD6-898C28F45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886200"/>
            <a:ext cx="1905000" cy="285750"/>
          </a:xfrm>
          <a:prstGeom xmlns:a="http://schemas.openxmlformats.org/drawingml/2006/main" prst="rect">
            <a:avLst/>
          </a:prstGeom>
          <a:ln xmlns:a="http://schemas.openxmlformats.org/drawingml/2006/main" w="0"/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5F6F7"/>
                </a:solidFill>
              </a:defRPr>
            </a:pPr>
            <a:r>
              <a:rPr sz="1650" b="1">
                <a:solidFill>
                  <a:srgbClr val="F5F6F7"/>
                </a:solidFill>
              </a:rPr>
              <a:t>Impact analysis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BDA343-14FC-448A-A855-CEC9D2BED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171950"/>
            <a:ext cx="4095750" cy="495300"/>
          </a:xfrm>
          <a:prstGeom xmlns:a="http://schemas.openxmlformats.org/drawingml/2006/main" prst="rect">
            <a:avLst/>
          </a:prstGeom>
          <a:ln xmlns:a="http://schemas.openxmlformats.org/drawingml/2006/main" w="0"/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6D8DC"/>
                </a:solidFill>
              </a:defRPr>
            </a:pPr>
            <a:r>
              <a:rPr sz="1350" b="0">
                <a:solidFill>
                  <a:srgbClr val="D6D8DC"/>
                </a:solidFill>
              </a:rPr>
              <a:t>Assess USD normalization using one-layer lineage expansion.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77FC688-D657-447C-9459-C4DFD42A6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7815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4A"/>
          </a:solidFill>
          <a:ln xmlns:a="http://schemas.openxmlformats.org/drawingml/2006/main" w="0"/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5F6F7"/>
                </a:solidFill>
              </a:defRPr>
            </a:pPr>
            <a:r>
              <a:rPr sz="1650" b="1">
                <a:solidFill>
                  <a:srgbClr val="F5F6F7"/>
                </a:solidFill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B71FB3-DEBE-41F6-8220-C0DE65FFD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762500"/>
            <a:ext cx="1905000" cy="285750"/>
          </a:xfrm>
          <a:prstGeom xmlns:a="http://schemas.openxmlformats.org/drawingml/2006/main" prst="rect">
            <a:avLst/>
          </a:prstGeom>
          <a:ln xmlns:a="http://schemas.openxmlformats.org/drawingml/2006/main" w="0"/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5F6F7"/>
                </a:solidFill>
              </a:defRPr>
            </a:pPr>
            <a:r>
              <a:rPr sz="1650" b="1">
                <a:solidFill>
                  <a:srgbClr val="F5F6F7"/>
                </a:solidFill>
              </a:rPr>
              <a:t>Implementation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9E50E3F-A327-4529-9EB8-F11EFBD3B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5048250"/>
            <a:ext cx="4095750" cy="495300"/>
          </a:xfrm>
          <a:prstGeom xmlns:a="http://schemas.openxmlformats.org/drawingml/2006/main" prst="rect">
            <a:avLst/>
          </a:prstGeom>
          <a:ln xmlns:a="http://schemas.openxmlformats.org/drawingml/2006/main" w="0"/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6D8DC"/>
                </a:solidFill>
              </a:defRPr>
            </a:pPr>
            <a:r>
              <a:rPr sz="1350" b="0">
                <a:solidFill>
                  <a:srgbClr val="D6D8DC"/>
                </a:solidFill>
              </a:rPr>
              <a:t>Add USD metrics and concentration buckets, then validate.</a:t>
            </a:r>
          </a:p>
        </p:txBody>
      </p:sp>
    </p:spTree>
    <p:extLst>
      <p:ext uri="{BB962C8B-B14F-4D97-AF65-F5344CB8AC3E}">
        <p14:creationId xmlns:p14="http://schemas.microsoft.com/office/powerpoint/2010/main" val="100837237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1113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B821A63-4E65-47A0-A0BC-9F8B4AE7D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1219200" cy="5715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/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F9126C-9ABF-45F8-9224-B1A5460A7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85800"/>
            <a:ext cx="2095500" cy="266700"/>
          </a:xfrm>
          <a:prstGeom xmlns:a="http://schemas.openxmlformats.org/drawingml/2006/main" prst="rect">
            <a:avLst/>
          </a:prstGeom>
          <a:ln xmlns:a="http://schemas.openxmlformats.org/drawingml/2006/main" w="0"/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D3C8"/>
                </a:solidFill>
              </a:defRPr>
            </a:pPr>
            <a:r>
              <a:rPr sz="1350" b="1">
                <a:solidFill>
                  <a:srgbClr val="FFD3C8"/>
                </a:solidFill>
              </a:rPr>
              <a:t>COMPARISON LENS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17A853-4865-4D11-BFDD-B563C3314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9650"/>
            <a:ext cx="10858500" cy="609600"/>
          </a:xfrm>
          <a:prstGeom xmlns:a="http://schemas.openxmlformats.org/drawingml/2006/main" prst="rect">
            <a:avLst/>
          </a:prstGeom>
          <a:ln xmlns:a="http://schemas.openxmlformats.org/drawingml/2006/main" w="0"/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6F7"/>
                </a:solidFill>
              </a:defRPr>
            </a:pPr>
            <a:r>
              <a:rPr sz="2550" b="1">
                <a:solidFill>
                  <a:srgbClr val="F5F6F7"/>
                </a:solidFill>
              </a:rPr>
              <a:t>Live Comparison Scorecard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172AFA-AF97-4EE6-A8BC-5E88A5C4B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43050"/>
            <a:ext cx="10668000" cy="495300"/>
          </a:xfrm>
          <a:prstGeom xmlns:a="http://schemas.openxmlformats.org/drawingml/2006/main" prst="rect">
            <a:avLst/>
          </a:prstGeom>
          <a:ln xmlns:a="http://schemas.openxmlformats.org/drawingml/2006/main" w="0"/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97A0AA"/>
                </a:solidFill>
              </a:defRPr>
            </a:pPr>
            <a:r>
              <a:rPr sz="1500" b="0">
                <a:solidFill>
                  <a:srgbClr val="97A0AA"/>
                </a:solidFill>
              </a:rPr>
              <a:t>Define efficiency before the demo starts so the audience knows what to watch.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16C11D-A245-4DE6-B8DC-3665FC357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47900"/>
            <a:ext cx="3429000" cy="6096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20242A"/>
          </a:solidFill>
          <a:ln xmlns:a="http://schemas.openxmlformats.org/drawingml/2006/main" w="9525">
            <a:solidFill>
              <a:srgbClr val="2B313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0B08C6-FE21-4FF4-B857-EBC62E55F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19350"/>
            <a:ext cx="3048000" cy="285750"/>
          </a:xfrm>
          <a:prstGeom xmlns:a="http://schemas.openxmlformats.org/drawingml/2006/main" prst="rect">
            <a:avLst/>
          </a:prstGeom>
          <a:ln xmlns:a="http://schemas.openxmlformats.org/drawingml/2006/main" w="0"/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5F6F7"/>
                </a:solidFill>
              </a:defRPr>
            </a:pPr>
            <a:r>
              <a:rPr sz="1650" b="1">
                <a:solidFill>
                  <a:srgbClr val="F5F6F7"/>
                </a:solidFill>
              </a:rPr>
              <a:t>Proxy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4EDB56-CEED-4B02-9189-BDEDEFDFE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247900"/>
            <a:ext cx="3333750" cy="6096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3A1F1A"/>
          </a:solidFill>
          <a:ln xmlns:a="http://schemas.openxmlformats.org/drawingml/2006/main" w="9525">
            <a:solidFill>
              <a:srgbClr val="2B313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24A52C-188F-4188-B2E1-D381E229A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419350"/>
            <a:ext cx="2952750" cy="285750"/>
          </a:xfrm>
          <a:prstGeom xmlns:a="http://schemas.openxmlformats.org/drawingml/2006/main" prst="rect">
            <a:avLst/>
          </a:prstGeom>
          <a:ln xmlns:a="http://schemas.openxmlformats.org/drawingml/2006/main" w="0"/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5F6F7"/>
                </a:solidFill>
              </a:defRPr>
            </a:pPr>
            <a:r>
              <a:rPr sz="1650" b="1">
                <a:solidFill>
                  <a:srgbClr val="F5F6F7"/>
                </a:solidFill>
              </a:rPr>
              <a:t>Careless Prompt Run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A7AB83-5FD9-4F5A-9039-1754D7D6C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247900"/>
            <a:ext cx="3905250" cy="6096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173124"/>
          </a:solidFill>
          <a:ln xmlns:a="http://schemas.openxmlformats.org/drawingml/2006/main" w="9525">
            <a:solidFill>
              <a:srgbClr val="2B313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A3502F-6EEB-4793-84A5-DB770D4E2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19350"/>
            <a:ext cx="3524250" cy="285750"/>
          </a:xfrm>
          <a:prstGeom xmlns:a="http://schemas.openxmlformats.org/drawingml/2006/main" prst="rect">
            <a:avLst/>
          </a:prstGeom>
          <a:ln xmlns:a="http://schemas.openxmlformats.org/drawingml/2006/main" w="0"/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5F6F7"/>
                </a:solidFill>
              </a:defRPr>
            </a:pPr>
            <a:r>
              <a:rPr sz="1650" b="1">
                <a:solidFill>
                  <a:srgbClr val="F5F6F7"/>
                </a:solidFill>
              </a:rPr>
              <a:t>Disciplined Prompt Run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3B1866-E854-4548-AEBC-47772E4B3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09900"/>
            <a:ext cx="3429000" cy="51435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1A1D21"/>
          </a:solidFill>
          <a:ln xmlns:a="http://schemas.openxmlformats.org/drawingml/2006/main" w="9525">
            <a:solidFill>
              <a:srgbClr val="2B313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FAD769-ED68-49A3-8FE2-A1B5D2495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009900"/>
            <a:ext cx="3333750" cy="51435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2A1714"/>
          </a:solidFill>
          <a:ln xmlns:a="http://schemas.openxmlformats.org/drawingml/2006/main" w="9525">
            <a:solidFill>
              <a:srgbClr val="2B313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7C586C-785D-49BA-B43C-64D8D9DD4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009900"/>
            <a:ext cx="3905250" cy="51435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12281D"/>
          </a:solidFill>
          <a:ln xmlns:a="http://schemas.openxmlformats.org/drawingml/2006/main" w="9525">
            <a:solidFill>
              <a:srgbClr val="2B313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4F0BF2-356C-4321-BA46-ABD475219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43250"/>
            <a:ext cx="3086100" cy="228600"/>
          </a:xfrm>
          <a:prstGeom xmlns:a="http://schemas.openxmlformats.org/drawingml/2006/main" prst="rect">
            <a:avLst/>
          </a:prstGeom>
          <a:ln xmlns:a="http://schemas.openxmlformats.org/drawingml/2006/main" w="0"/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6F7"/>
                </a:solidFill>
              </a:defRPr>
            </a:pPr>
            <a:r>
              <a:rPr sz="1500" b="1">
                <a:solidFill>
                  <a:srgbClr val="F5F6F7"/>
                </a:solidFill>
              </a:rPr>
              <a:t>Files inspected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979D01-B9BB-41DF-AE23-8A2DF9302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124200"/>
            <a:ext cx="2990850" cy="266700"/>
          </a:xfrm>
          <a:prstGeom xmlns:a="http://schemas.openxmlformats.org/drawingml/2006/main" prst="rect">
            <a:avLst/>
          </a:prstGeom>
          <a:ln xmlns:a="http://schemas.openxmlformats.org/drawingml/2006/main" w="0"/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F9A86"/>
                </a:solidFill>
              </a:defRPr>
            </a:pPr>
            <a:r>
              <a:rPr sz="1200" b="0">
                <a:solidFill>
                  <a:srgbClr val="FF9A86"/>
                </a:solidFill>
              </a:rPr>
              <a:t>Did it scan more than the task needed?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4EDDC7-7FFB-4D79-9ECE-C404F9FF6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124200"/>
            <a:ext cx="3562350" cy="266700"/>
          </a:xfrm>
          <a:prstGeom xmlns:a="http://schemas.openxmlformats.org/drawingml/2006/main" prst="rect">
            <a:avLst/>
          </a:prstGeom>
          <a:ln xmlns:a="http://schemas.openxmlformats.org/drawingml/2006/main" w="0"/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8BE28B"/>
                </a:solidFill>
              </a:defRPr>
            </a:pPr>
            <a:r>
              <a:rPr sz="1200" b="0">
                <a:solidFill>
                  <a:srgbClr val="8BE28B"/>
                </a:solidFill>
              </a:rPr>
              <a:t>Did it stay inside the named slice?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83757B-3EAB-43B4-A550-8E32ADA70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57600"/>
            <a:ext cx="3429000" cy="51435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1A1D21"/>
          </a:solidFill>
          <a:ln xmlns:a="http://schemas.openxmlformats.org/drawingml/2006/main" w="9525">
            <a:solidFill>
              <a:srgbClr val="2B313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F8836E-A183-4A72-B6D2-BC02E64CC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657600"/>
            <a:ext cx="3333750" cy="51435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2A1714"/>
          </a:solidFill>
          <a:ln xmlns:a="http://schemas.openxmlformats.org/drawingml/2006/main" w="9525">
            <a:solidFill>
              <a:srgbClr val="2B313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04BCEE-FF8F-4AC8-A479-400C1C2B5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657600"/>
            <a:ext cx="3905250" cy="51435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12281D"/>
          </a:solidFill>
          <a:ln xmlns:a="http://schemas.openxmlformats.org/drawingml/2006/main" w="9525">
            <a:solidFill>
              <a:srgbClr val="2B313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8FE0FC-E68E-4B68-AC69-2B046C901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90950"/>
            <a:ext cx="3086100" cy="228600"/>
          </a:xfrm>
          <a:prstGeom xmlns:a="http://schemas.openxmlformats.org/drawingml/2006/main" prst="rect">
            <a:avLst/>
          </a:prstGeom>
          <a:ln xmlns:a="http://schemas.openxmlformats.org/drawingml/2006/main" w="0"/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6F7"/>
                </a:solidFill>
              </a:defRPr>
            </a:pPr>
            <a:r>
              <a:rPr sz="1500" b="1">
                <a:solidFill>
                  <a:srgbClr val="F5F6F7"/>
                </a:solidFill>
              </a:rPr>
              <a:t>Repeated scans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19A0234-C4EE-4A02-ADDE-546C32675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771900"/>
            <a:ext cx="2990850" cy="266700"/>
          </a:xfrm>
          <a:prstGeom xmlns:a="http://schemas.openxmlformats.org/drawingml/2006/main" prst="rect">
            <a:avLst/>
          </a:prstGeom>
          <a:ln xmlns:a="http://schemas.openxmlformats.org/drawingml/2006/main" w="0"/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F9A86"/>
                </a:solidFill>
              </a:defRPr>
            </a:pPr>
            <a:r>
              <a:rPr sz="1200" b="0">
                <a:solidFill>
                  <a:srgbClr val="FF9A86"/>
                </a:solidFill>
              </a:rPr>
              <a:t>Did it rediscover context it already had?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3970ADF-33ED-45CF-899D-9CDBBD7AD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771900"/>
            <a:ext cx="3562350" cy="266700"/>
          </a:xfrm>
          <a:prstGeom xmlns:a="http://schemas.openxmlformats.org/drawingml/2006/main" prst="rect">
            <a:avLst/>
          </a:prstGeom>
          <a:ln xmlns:a="http://schemas.openxmlformats.org/drawingml/2006/main" w="0"/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8BE28B"/>
                </a:solidFill>
              </a:defRPr>
            </a:pPr>
            <a:r>
              <a:rPr sz="1200" b="0">
                <a:solidFill>
                  <a:srgbClr val="8BE28B"/>
                </a:solidFill>
              </a:rPr>
              <a:t>Did it reuse repo map and lineage notes?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92C0733-5B71-457D-AD59-0C0D3780D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05300"/>
            <a:ext cx="3429000" cy="51435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1A1D21"/>
          </a:solidFill>
          <a:ln xmlns:a="http://schemas.openxmlformats.org/drawingml/2006/main" w="9525">
            <a:solidFill>
              <a:srgbClr val="2B313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16D83AD-B302-4C9D-9FAD-E6BB3CAB0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305300"/>
            <a:ext cx="3333750" cy="51435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2A1714"/>
          </a:solidFill>
          <a:ln xmlns:a="http://schemas.openxmlformats.org/drawingml/2006/main" w="9525">
            <a:solidFill>
              <a:srgbClr val="2B313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9E61806-5004-48D1-88F2-0696F501E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305300"/>
            <a:ext cx="3905250" cy="51435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12281D"/>
          </a:solidFill>
          <a:ln xmlns:a="http://schemas.openxmlformats.org/drawingml/2006/main" w="9525">
            <a:solidFill>
              <a:srgbClr val="2B313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13C6D98-D62A-41EC-B18A-39E5EDDEB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438650"/>
            <a:ext cx="3086100" cy="228600"/>
          </a:xfrm>
          <a:prstGeom xmlns:a="http://schemas.openxmlformats.org/drawingml/2006/main" prst="rect">
            <a:avLst/>
          </a:prstGeom>
          <a:ln xmlns:a="http://schemas.openxmlformats.org/drawingml/2006/main" w="0"/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6F7"/>
                </a:solidFill>
              </a:defRPr>
            </a:pPr>
            <a:r>
              <a:rPr sz="1500" b="1">
                <a:solidFill>
                  <a:srgbClr val="F5F6F7"/>
                </a:solidFill>
              </a:rPr>
              <a:t>Changed-file count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077940E-DF43-458B-802D-84966900E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419600"/>
            <a:ext cx="2990850" cy="266700"/>
          </a:xfrm>
          <a:prstGeom xmlns:a="http://schemas.openxmlformats.org/drawingml/2006/main" prst="rect">
            <a:avLst/>
          </a:prstGeom>
          <a:ln xmlns:a="http://schemas.openxmlformats.org/drawingml/2006/main" w="0"/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F9A86"/>
                </a:solidFill>
              </a:defRPr>
            </a:pPr>
            <a:r>
              <a:rPr sz="1200" b="0">
                <a:solidFill>
                  <a:srgbClr val="FF9A86"/>
                </a:solidFill>
              </a:rPr>
              <a:t>Did it wander into unrelated models?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9988AB7-5D34-4A93-9015-904418B23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419600"/>
            <a:ext cx="3562350" cy="266700"/>
          </a:xfrm>
          <a:prstGeom xmlns:a="http://schemas.openxmlformats.org/drawingml/2006/main" prst="rect">
            <a:avLst/>
          </a:prstGeom>
          <a:ln xmlns:a="http://schemas.openxmlformats.org/drawingml/2006/main" w="0"/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8BE28B"/>
                </a:solidFill>
              </a:defRPr>
            </a:pPr>
            <a:r>
              <a:rPr sz="1200" b="0">
                <a:solidFill>
                  <a:srgbClr val="8BE28B"/>
                </a:solidFill>
              </a:rPr>
              <a:t>Did it keep the edit set minimal?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1895841-71FA-4C26-9F2F-F9039D8AF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0"/>
            <a:ext cx="3429000" cy="51435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1A1D21"/>
          </a:solidFill>
          <a:ln xmlns:a="http://schemas.openxmlformats.org/drawingml/2006/main" w="9525">
            <a:solidFill>
              <a:srgbClr val="2B313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683AC76-070B-47F0-A421-CA1CCBC56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953000"/>
            <a:ext cx="3333750" cy="51435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2A1714"/>
          </a:solidFill>
          <a:ln xmlns:a="http://schemas.openxmlformats.org/drawingml/2006/main" w="9525">
            <a:solidFill>
              <a:srgbClr val="2B313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D221181-8B06-47C9-A657-6EFD427F9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953000"/>
            <a:ext cx="3905250" cy="51435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12281D"/>
          </a:solidFill>
          <a:ln xmlns:a="http://schemas.openxmlformats.org/drawingml/2006/main" w="9525">
            <a:solidFill>
              <a:srgbClr val="2B313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B279703-58BA-4F3A-96D3-4B17D48BE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086350"/>
            <a:ext cx="3086100" cy="228600"/>
          </a:xfrm>
          <a:prstGeom xmlns:a="http://schemas.openxmlformats.org/drawingml/2006/main" prst="rect">
            <a:avLst/>
          </a:prstGeom>
          <a:ln xmlns:a="http://schemas.openxmlformats.org/drawingml/2006/main" w="0"/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6F7"/>
                </a:solidFill>
              </a:defRPr>
            </a:pPr>
            <a:r>
              <a:rPr sz="1500" b="1">
                <a:solidFill>
                  <a:srgbClr val="F5F6F7"/>
                </a:solidFill>
              </a:rPr>
              <a:t>Validation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DAD2711-A3A4-449E-9CFB-52CDEE4E3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5067300"/>
            <a:ext cx="2990850" cy="266700"/>
          </a:xfrm>
          <a:prstGeom xmlns:a="http://schemas.openxmlformats.org/drawingml/2006/main" prst="rect">
            <a:avLst/>
          </a:prstGeom>
          <a:ln xmlns:a="http://schemas.openxmlformats.org/drawingml/2006/main" w="0"/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F9A86"/>
                </a:solidFill>
              </a:defRPr>
            </a:pPr>
            <a:r>
              <a:rPr sz="1200" b="0">
                <a:solidFill>
                  <a:srgbClr val="FF9A86"/>
                </a:solidFill>
              </a:rPr>
              <a:t>Did it stop after code changes?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F1E8262-7145-49F9-B1AB-1C3080D19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5067300"/>
            <a:ext cx="3562350" cy="266700"/>
          </a:xfrm>
          <a:prstGeom xmlns:a="http://schemas.openxmlformats.org/drawingml/2006/main" prst="rect">
            <a:avLst/>
          </a:prstGeom>
          <a:ln xmlns:a="http://schemas.openxmlformats.org/drawingml/2006/main" w="0"/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8BE28B"/>
                </a:solidFill>
              </a:defRPr>
            </a:pPr>
            <a:r>
              <a:rPr sz="1200" b="0">
                <a:solidFill>
                  <a:srgbClr val="8BE28B"/>
                </a:solidFill>
              </a:rPr>
              <a:t>Did it run dbt before claiming success?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F7F35FF-EBEE-4C8C-BC9C-94BE9D564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00700"/>
            <a:ext cx="3429000" cy="51435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1A1D21"/>
          </a:solidFill>
          <a:ln xmlns:a="http://schemas.openxmlformats.org/drawingml/2006/main" w="9525">
            <a:solidFill>
              <a:srgbClr val="2B313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0563823-1E2E-48B7-AD3A-B99EE5DA4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5600700"/>
            <a:ext cx="3333750" cy="51435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2A1714"/>
          </a:solidFill>
          <a:ln xmlns:a="http://schemas.openxmlformats.org/drawingml/2006/main" w="9525">
            <a:solidFill>
              <a:srgbClr val="2B313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D361700-74FE-4EC7-A77B-FD315FDDA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600700"/>
            <a:ext cx="3905250" cy="51435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12281D"/>
          </a:solidFill>
          <a:ln xmlns:a="http://schemas.openxmlformats.org/drawingml/2006/main" w="9525">
            <a:solidFill>
              <a:srgbClr val="2B313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0DED85E-98F0-42E5-B4B6-85C5C2D71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34050"/>
            <a:ext cx="3086100" cy="228600"/>
          </a:xfrm>
          <a:prstGeom xmlns:a="http://schemas.openxmlformats.org/drawingml/2006/main" prst="rect">
            <a:avLst/>
          </a:prstGeom>
          <a:ln xmlns:a="http://schemas.openxmlformats.org/drawingml/2006/main" w="0"/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6F7"/>
                </a:solidFill>
              </a:defRPr>
            </a:pPr>
            <a:r>
              <a:rPr sz="1500" b="1">
                <a:solidFill>
                  <a:srgbClr val="F5F6F7"/>
                </a:solidFill>
              </a:rPr>
              <a:t>Risk summary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7E68DDB-6ABA-4CCF-B76F-BD134F9CA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5715000"/>
            <a:ext cx="2990850" cy="266700"/>
          </a:xfrm>
          <a:prstGeom xmlns:a="http://schemas.openxmlformats.org/drawingml/2006/main" prst="rect">
            <a:avLst/>
          </a:prstGeom>
          <a:ln xmlns:a="http://schemas.openxmlformats.org/drawingml/2006/main" w="0"/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F9A86"/>
                </a:solidFill>
              </a:defRPr>
            </a:pPr>
            <a:r>
              <a:rPr sz="1200" b="0">
                <a:solidFill>
                  <a:srgbClr val="FF9A86"/>
                </a:solidFill>
              </a:rPr>
              <a:t>Did it hand-wave edge cases?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E050184-F9AA-4C28-A033-0CE1D8E98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5715000"/>
            <a:ext cx="3562350" cy="266700"/>
          </a:xfrm>
          <a:prstGeom xmlns:a="http://schemas.openxmlformats.org/drawingml/2006/main" prst="rect">
            <a:avLst/>
          </a:prstGeom>
          <a:ln xmlns:a="http://schemas.openxmlformats.org/drawingml/2006/main" w="0"/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8BE28B"/>
                </a:solidFill>
              </a:defRPr>
            </a:pPr>
            <a:r>
              <a:rPr sz="1200" b="0">
                <a:solidFill>
                  <a:srgbClr val="8BE28B"/>
                </a:solidFill>
              </a:rPr>
              <a:t>Did it name remaining risk explicitly?</a:t>
            </a:r>
          </a:p>
        </p:txBody>
      </p:sp>
    </p:spTree>
    <p:extLst>
      <p:ext uri="{BB962C8B-B14F-4D97-AF65-F5344CB8AC3E}">
        <p14:creationId xmlns:p14="http://schemas.microsoft.com/office/powerpoint/2010/main" val="150010424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1113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BCAA154-3C6C-4835-9D6D-36025CBB6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1219200" cy="5715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/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07E9D1-5186-42D6-9B2F-81DD43715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85800"/>
            <a:ext cx="2095500" cy="266700"/>
          </a:xfrm>
          <a:prstGeom xmlns:a="http://schemas.openxmlformats.org/drawingml/2006/main" prst="rect">
            <a:avLst/>
          </a:prstGeom>
          <a:ln xmlns:a="http://schemas.openxmlformats.org/drawingml/2006/main" w="0"/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D3C8"/>
                </a:solidFill>
              </a:defRPr>
            </a:pPr>
            <a:r>
              <a:rPr sz="1350" b="1">
                <a:solidFill>
                  <a:srgbClr val="FFD3C8"/>
                </a:solidFill>
              </a:rPr>
              <a:t>EXERCISE UPDATE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B269BE-5035-445D-82E2-D90632A7E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9650"/>
            <a:ext cx="10858500" cy="609600"/>
          </a:xfrm>
          <a:prstGeom xmlns:a="http://schemas.openxmlformats.org/drawingml/2006/main" prst="rect">
            <a:avLst/>
          </a:prstGeom>
          <a:ln xmlns:a="http://schemas.openxmlformats.org/drawingml/2006/main" w="0"/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6F7"/>
                </a:solidFill>
              </a:defRPr>
            </a:pPr>
            <a:r>
              <a:rPr sz="2550" b="1">
                <a:solidFill>
                  <a:srgbClr val="F5F6F7"/>
                </a:solidFill>
              </a:rPr>
              <a:t>Rewrite the Demo Prompt, Not Just the Principle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C05C2F-B271-4761-BE67-AFF0158AD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43050"/>
            <a:ext cx="10668000" cy="495300"/>
          </a:xfrm>
          <a:prstGeom xmlns:a="http://schemas.openxmlformats.org/drawingml/2006/main" prst="rect">
            <a:avLst/>
          </a:prstGeom>
          <a:ln xmlns:a="http://schemas.openxmlformats.org/drawingml/2006/main" w="0"/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97A0AA"/>
                </a:solidFill>
              </a:defRPr>
            </a:pPr>
            <a:r>
              <a:rPr sz="1500" b="0">
                <a:solidFill>
                  <a:srgbClr val="97A0AA"/>
                </a:solidFill>
              </a:rPr>
              <a:t>Use the sandbox repo so attendees practice the exact move they will watch in the live comparison.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785924-B1A6-4330-BF03-FFF6946BE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66950"/>
            <a:ext cx="4476750" cy="34290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1A1D21"/>
          </a:solidFill>
          <a:ln xmlns:a="http://schemas.openxmlformats.org/drawingml/2006/main" w="9525">
            <a:solidFill>
              <a:srgbClr val="2B313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892218-02A5-4B73-9A4C-78CC9038F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33650"/>
            <a:ext cx="2381250" cy="285750"/>
          </a:xfrm>
          <a:prstGeom xmlns:a="http://schemas.openxmlformats.org/drawingml/2006/main" prst="rect">
            <a:avLst/>
          </a:prstGeom>
          <a:ln xmlns:a="http://schemas.openxmlformats.org/drawingml/2006/main" w="0"/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6F7"/>
                </a:solidFill>
              </a:defRPr>
            </a:pPr>
            <a:r>
              <a:rPr sz="1800" b="1">
                <a:solidFill>
                  <a:srgbClr val="F5F6F7"/>
                </a:solidFill>
              </a:rPr>
              <a:t>Original vague prompt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332961-4EAF-4765-BA39-0D134D473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09900"/>
            <a:ext cx="3810000" cy="1619250"/>
          </a:xfrm>
          <a:prstGeom xmlns:a="http://schemas.openxmlformats.org/drawingml/2006/main" prst="rect">
            <a:avLst/>
          </a:prstGeom>
          <a:ln xmlns:a="http://schemas.openxmlformats.org/drawingml/2006/main" w="0"/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F9A86"/>
                </a:solidFill>
              </a:defRPr>
            </a:pPr>
            <a:r>
              <a:rPr sz="1650" b="0">
                <a:solidFill>
                  <a:srgbClr val="FF9A86"/>
                </a:solidFill>
              </a:rPr>
              <a:t>Please add market_value_usd, unrealized_gain_usd, and concentration_bucket to the portfolio reporting outputs and make sure everything still works.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7568CF-3293-4BCD-B0E2-8EA736B7B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266950"/>
            <a:ext cx="6096000" cy="34290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20242A"/>
          </a:solidFill>
          <a:ln xmlns:a="http://schemas.openxmlformats.org/drawingml/2006/main" w="9525">
            <a:solidFill>
              <a:srgbClr val="2B313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89B0D9-459C-4D90-9093-696242EFA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2533650"/>
            <a:ext cx="1714500" cy="285750"/>
          </a:xfrm>
          <a:prstGeom xmlns:a="http://schemas.openxmlformats.org/drawingml/2006/main" prst="rect">
            <a:avLst/>
          </a:prstGeom>
          <a:ln xmlns:a="http://schemas.openxmlformats.org/drawingml/2006/main" w="0"/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6F7"/>
                </a:solidFill>
              </a:defRPr>
            </a:pPr>
            <a:r>
              <a:rPr sz="1800" b="1">
                <a:solidFill>
                  <a:srgbClr val="F5F6F7"/>
                </a:solidFill>
              </a:rPr>
              <a:t>Rewrite target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690BAA-A601-4305-A13D-1B6C66044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3009900"/>
            <a:ext cx="5334000" cy="457200"/>
          </a:xfrm>
          <a:prstGeom xmlns:a="http://schemas.openxmlformats.org/drawingml/2006/main" prst="rect">
            <a:avLst/>
          </a:prstGeom>
          <a:ln xmlns:a="http://schemas.openxmlformats.org/drawingml/2006/main" w="0"/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D6D8DC"/>
                </a:solidFill>
              </a:defRPr>
            </a:pPr>
            <a:r>
              <a:rPr sz="1650" b="0">
                <a:solidFill>
                  <a:srgbClr val="D6D8DC"/>
                </a:solidFill>
              </a:rPr>
              <a:t>• Name the exact reporting paths and the ignored paths.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BDE072-8CF2-492F-8587-F64511B64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3467100"/>
            <a:ext cx="5334000" cy="457200"/>
          </a:xfrm>
          <a:prstGeom xmlns:a="http://schemas.openxmlformats.org/drawingml/2006/main" prst="rect">
            <a:avLst/>
          </a:prstGeom>
          <a:ln xmlns:a="http://schemas.openxmlformats.org/drawingml/2006/main" w="0"/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D6D8DC"/>
                </a:solidFill>
              </a:defRPr>
            </a:pPr>
            <a:r>
              <a:rPr sz="1650" b="0">
                <a:solidFill>
                  <a:srgbClr val="D6D8DC"/>
                </a:solidFill>
              </a:rPr>
              <a:t>• Require a plan before edits.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9DF29E-023D-4701-9226-B1C101B63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3924300"/>
            <a:ext cx="5334000" cy="457200"/>
          </a:xfrm>
          <a:prstGeom xmlns:a="http://schemas.openxmlformats.org/drawingml/2006/main" prst="rect">
            <a:avLst/>
          </a:prstGeom>
          <a:ln xmlns:a="http://schemas.openxmlformats.org/drawingml/2006/main" w="0"/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D6D8DC"/>
                </a:solidFill>
              </a:defRPr>
            </a:pPr>
            <a:r>
              <a:rPr sz="1650" b="0">
                <a:solidFill>
                  <a:srgbClr val="D6D8DC"/>
                </a:solidFill>
              </a:rPr>
              <a:t>• Reuse docs/dbt_lineage_notes.md first.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4DB9EE-F3EF-4478-9447-CCBA0768F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4381500"/>
            <a:ext cx="5334000" cy="457200"/>
          </a:xfrm>
          <a:prstGeom xmlns:a="http://schemas.openxmlformats.org/drawingml/2006/main" prst="rect">
            <a:avLst/>
          </a:prstGeom>
          <a:ln xmlns:a="http://schemas.openxmlformats.org/drawingml/2006/main" w="0"/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D6D8DC"/>
                </a:solidFill>
              </a:defRPr>
            </a:pPr>
            <a:r>
              <a:rPr sz="1650" b="0">
                <a:solidFill>
                  <a:srgbClr val="D6D8DC"/>
                </a:solidFill>
              </a:rPr>
              <a:t>• Ask for dbt validation before the agent claims success.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9AA867-9135-4669-9BA3-A24E3799B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81700"/>
            <a:ext cx="2667000" cy="266700"/>
          </a:xfrm>
          <a:prstGeom xmlns:a="http://schemas.openxmlformats.org/drawingml/2006/main" prst="rect">
            <a:avLst/>
          </a:prstGeom>
          <a:ln xmlns:a="http://schemas.openxmlformats.org/drawingml/2006/main" w="0"/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D3C8"/>
                </a:solidFill>
              </a:defRPr>
            </a:pPr>
            <a:r>
              <a:rPr sz="1500" b="1">
                <a:solidFill>
                  <a:srgbClr val="FFD3C8"/>
                </a:solidFill>
              </a:rPr>
              <a:t>Expected attendee output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88D316-74D5-47C6-B9A8-051536DE9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67450"/>
            <a:ext cx="10858500" cy="285750"/>
          </a:xfrm>
          <a:prstGeom xmlns:a="http://schemas.openxmlformats.org/drawingml/2006/main" prst="rect">
            <a:avLst/>
          </a:prstGeom>
          <a:ln xmlns:a="http://schemas.openxmlformats.org/drawingml/2006/main" w="0"/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6D8DC"/>
                </a:solidFill>
              </a:defRPr>
            </a:pPr>
            <a:r>
              <a:rPr sz="1350" b="0">
                <a:solidFill>
                  <a:srgbClr val="D6D8DC"/>
                </a:solidFill>
              </a:rPr>
              <a:t>1. careless prompt  2. scoped rewrite  3. allowed files  4. ignored files  5. reusable artifact  6. validation step</a:t>
            </a:r>
          </a:p>
        </p:txBody>
      </p:sp>
    </p:spTree>
    <p:extLst>
      <p:ext uri="{BB962C8B-B14F-4D97-AF65-F5344CB8AC3E}">
        <p14:creationId xmlns:p14="http://schemas.microsoft.com/office/powerpoint/2010/main" val="1913348654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EE04C99-360C-4CF3-9945-A6835302B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725528B-7783-4EDE-BF2C-834933741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84048"/>
            <a:ext cx="11185855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Team exercise: 15-minute hands-on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97266370-C2F1-46CC-B93C-8A846551B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795528"/>
            <a:ext cx="11185855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475569"/>
                </a:solidFill>
                <a:latin typeface="Arial"/>
                <a:ea typeface="Arial"/>
                <a:cs typeface="Arial"/>
              </a:rPr>
              <a:t>Make the workshop concrete; do not leave it as abstract prompting advice.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6D7812BD-F8E1-4BD0-8B5D-0AF345882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088136"/>
            <a:ext cx="1118585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A3650608-15A2-4E4F-86A2-2AA07FEA3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463040"/>
            <a:ext cx="521208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CBD5E1"/>
            </a:solidFill>
          </a:ln>
        </p:spPr>
        <p:txBody>
          <a:bodyPr xmlns:a="http://schemas.openxmlformats.org/drawingml/2006/main" wrap="square" lIns="2032" tIns="2032" rIns="2032" bIns="2032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40">
                <a:solidFill>
                  <a:srgbClr val="111827"/>
                </a:solidFill>
                <a:latin typeface="Arial"/>
                <a:ea typeface="Arial"/>
                <a:cs typeface="Arial"/>
              </a:rPr>
              <a:t>Exercise</a:t>
            </a:r>
          </a:p>
          <a:p xmlns:a="http://schemas.openxmlformats.org/drawingml/2006/main">
            <a:pPr marL="0" indent="0">
              <a:buNone/>
            </a:pPr>
          </a:p>
          <a:p xmlns:a="http://schemas.openxmlformats.org/drawingml/2006/main">
            <a:pPr marL="0" indent="0">
              <a:buNone/>
            </a:pPr>
            <a:r>
              <a:rPr sz="1540">
                <a:solidFill>
                  <a:srgbClr val="111827"/>
                </a:solidFill>
                <a:latin typeface="Arial"/>
                <a:ea typeface="Arial"/>
                <a:cs typeface="Arial"/>
              </a:rPr>
              <a:t>Pick one real task people often ask Claude Code to do. Rewrite it using the default template. Then identify one reusable artifact that would make the task cheaper next time.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379BEE74-9CF9-43F8-A97D-5215F640F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463040"/>
            <a:ext cx="507492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10160">
            <a:solidFill>
              <a:srgbClr val="CBD5E1"/>
            </a:solidFill>
          </a:ln>
        </p:spPr>
        <p:txBody>
          <a:bodyPr xmlns:a="http://schemas.openxmlformats.org/drawingml/2006/main" wrap="square" lIns="2032" tIns="2032" rIns="2032" bIns="2032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40">
                <a:solidFill>
                  <a:srgbClr val="111827"/>
                </a:solidFill>
                <a:latin typeface="Arial"/>
                <a:ea typeface="Arial"/>
                <a:cs typeface="Arial"/>
              </a:rPr>
              <a:t>Expected output</a:t>
            </a:r>
          </a:p>
          <a:p xmlns:a="http://schemas.openxmlformats.org/drawingml/2006/main">
            <a:pPr marL="0" indent="0">
              <a:buNone/>
            </a:pPr>
          </a:p>
          <a:p xmlns:a="http://schemas.openxmlformats.org/drawingml/2006/main">
            <a:pPr marL="0" indent="0">
              <a:buNone/>
            </a:pPr>
            <a:r>
              <a:rPr sz="1540">
                <a:solidFill>
                  <a:srgbClr val="111827"/>
                </a:solidFill>
                <a:latin typeface="Arial"/>
                <a:ea typeface="Arial"/>
                <a:cs typeface="Arial"/>
              </a:rPr>
              <a:t>1. Original vague prompt</a:t>
            </a:r>
          </a:p>
          <a:p xmlns:a="http://schemas.openxmlformats.org/drawingml/2006/main">
            <a:pPr marL="0" indent="0">
              <a:buNone/>
            </a:pPr>
            <a:r>
              <a:rPr sz="1540">
                <a:solidFill>
                  <a:srgbClr val="111827"/>
                </a:solidFill>
                <a:latin typeface="Arial"/>
                <a:ea typeface="Arial"/>
                <a:cs typeface="Arial"/>
              </a:rPr>
              <a:t>2. Improved scoped prompt</a:t>
            </a:r>
          </a:p>
          <a:p xmlns:a="http://schemas.openxmlformats.org/drawingml/2006/main">
            <a:pPr marL="0" indent="0">
              <a:buNone/>
            </a:pPr>
            <a:r>
              <a:rPr sz="1540">
                <a:solidFill>
                  <a:srgbClr val="111827"/>
                </a:solidFill>
                <a:latin typeface="Arial"/>
                <a:ea typeface="Arial"/>
                <a:cs typeface="Arial"/>
              </a:rPr>
              <a:t>3. Files/folders allowed</a:t>
            </a:r>
          </a:p>
          <a:p xmlns:a="http://schemas.openxmlformats.org/drawingml/2006/main">
            <a:pPr marL="0" indent="0">
              <a:buNone/>
            </a:pPr>
            <a:r>
              <a:rPr sz="1540">
                <a:solidFill>
                  <a:srgbClr val="111827"/>
                </a:solidFill>
                <a:latin typeface="Arial"/>
                <a:ea typeface="Arial"/>
                <a:cs typeface="Arial"/>
              </a:rPr>
              <a:t>4. Files/folders ignored</a:t>
            </a:r>
          </a:p>
          <a:p xmlns:a="http://schemas.openxmlformats.org/drawingml/2006/main">
            <a:pPr marL="0" indent="0">
              <a:buNone/>
            </a:pPr>
            <a:r>
              <a:rPr sz="1540">
                <a:solidFill>
                  <a:srgbClr val="111827"/>
                </a:solidFill>
                <a:latin typeface="Arial"/>
                <a:ea typeface="Arial"/>
                <a:cs typeface="Arial"/>
              </a:rPr>
              <a:t>5. Reusable doc to create</a:t>
            </a:r>
          </a:p>
          <a:p xmlns:a="http://schemas.openxmlformats.org/drawingml/2006/main">
            <a:pPr marL="0" indent="0">
              <a:buNone/>
            </a:pPr>
            <a:r>
              <a:rPr sz="1540">
                <a:solidFill>
                  <a:srgbClr val="111827"/>
                </a:solidFill>
                <a:latin typeface="Arial"/>
                <a:ea typeface="Arial"/>
                <a:cs typeface="Arial"/>
              </a:rPr>
              <a:t>6. Validation step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5FFFDBFC-8DB4-4915-B077-B405E9500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32120"/>
            <a:ext cx="992124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10160">
            <a:solidFill>
              <a:srgbClr val="CBD5E1"/>
            </a:solidFill>
          </a:ln>
        </p:spPr>
        <p:txBody>
          <a:bodyPr xmlns:a="http://schemas.openxmlformats.org/drawingml/2006/main" wrap="square" lIns="2032" tIns="2032" rIns="2032" bIns="2032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111827"/>
                </a:solidFill>
                <a:latin typeface="Arial"/>
                <a:ea typeface="Arial"/>
                <a:cs typeface="Arial"/>
              </a:rPr>
              <a:t>Facilitator move</a:t>
            </a:r>
          </a:p>
          <a:p xmlns:a="http://schemas.openxmlformats.org/drawingml/2006/main">
            <a:pPr marL="0" indent="0">
              <a:buNone/>
            </a:pPr>
          </a:p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111827"/>
                </a:solidFill>
                <a:latin typeface="Arial"/>
                <a:ea typeface="Arial"/>
                <a:cs typeface="Arial"/>
              </a:rPr>
              <a:t>Push back on vague scope. Ask: “What is the smallest repo slice that could answer this?”</a:t>
            </a:r>
          </a:p>
        </p:txBody>
      </p:sp>
    </p:spTree>
    <p:extLst>
      <p:ext uri="{BB962C8B-B14F-4D97-AF65-F5344CB8AC3E}">
        <p14:creationId xmlns:p14="http://schemas.microsoft.com/office/powerpoint/2010/main" val="112462918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C544204C-2A2E-452C-B2E4-C069B093C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19ACFE9-00B1-45DB-9C0D-CAFB423FD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84048"/>
            <a:ext cx="11185855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Takeaways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23B45C8C-28FF-4754-9CB4-0022CF1B3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795528"/>
            <a:ext cx="11185855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475569"/>
                </a:solidFill>
                <a:latin typeface="Arial"/>
                <a:ea typeface="Arial"/>
                <a:cs typeface="Arial"/>
              </a:rPr>
              <a:t>The practical rules to repeat until they become habit.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D83DEF77-5E2B-423C-A1EA-B89F9A0D1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088136"/>
            <a:ext cx="1118585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5061A782-0392-4DC4-BA8E-4D001FDEA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600200"/>
            <a:ext cx="5074920" cy="1508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CBD5E1"/>
            </a:solidFill>
          </a:ln>
        </p:spPr>
        <p:txBody>
          <a:bodyPr xmlns:a="http://schemas.openxmlformats.org/drawingml/2006/main" wrap="square" lIns="2032" tIns="2032" rIns="2032" bIns="2032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11827"/>
                </a:solidFill>
                <a:latin typeface="Arial"/>
                <a:ea typeface="Arial"/>
                <a:cs typeface="Arial"/>
              </a:rPr>
              <a:t>Context is the work</a:t>
            </a:r>
          </a:p>
          <a:p xmlns:a="http://schemas.openxmlformats.org/drawingml/2006/main">
            <a:pPr marL="0" indent="0">
              <a:buNone/>
            </a:pPr>
          </a:p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11827"/>
                </a:solidFill>
                <a:latin typeface="Arial"/>
                <a:ea typeface="Arial"/>
                <a:cs typeface="Arial"/>
              </a:rPr>
              <a:t>Prompt quality is mostly context quality.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0249C6E1-BB0E-4367-99BB-DAE6C2202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600200"/>
            <a:ext cx="5074920" cy="1508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10160">
            <a:solidFill>
              <a:srgbClr val="CBD5E1"/>
            </a:solidFill>
          </a:ln>
        </p:spPr>
        <p:txBody>
          <a:bodyPr xmlns:a="http://schemas.openxmlformats.org/drawingml/2006/main" wrap="square" lIns="2032" tIns="2032" rIns="2032" bIns="2032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11827"/>
                </a:solidFill>
                <a:latin typeface="Arial"/>
                <a:ea typeface="Arial"/>
                <a:cs typeface="Arial"/>
              </a:rPr>
              <a:t>Discover once</a:t>
            </a:r>
          </a:p>
          <a:p xmlns:a="http://schemas.openxmlformats.org/drawingml/2006/main">
            <a:pPr marL="0" indent="0">
              <a:buNone/>
            </a:pPr>
          </a:p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11827"/>
                </a:solidFill>
                <a:latin typeface="Arial"/>
                <a:ea typeface="Arial"/>
                <a:cs typeface="Arial"/>
              </a:rPr>
              <a:t>Persist repo knowledge into reusable artifacts.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2CBC665C-AA7C-4605-BD8A-300F91E4C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977640"/>
            <a:ext cx="5074920" cy="1508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CBD5E1"/>
            </a:solidFill>
          </a:ln>
        </p:spPr>
        <p:txBody>
          <a:bodyPr xmlns:a="http://schemas.openxmlformats.org/drawingml/2006/main" wrap="square" lIns="2032" tIns="2032" rIns="2032" bIns="2032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11827"/>
                </a:solidFill>
                <a:latin typeface="Arial"/>
                <a:ea typeface="Arial"/>
                <a:cs typeface="Arial"/>
              </a:rPr>
              <a:t>Scope hard</a:t>
            </a:r>
          </a:p>
          <a:p xmlns:a="http://schemas.openxmlformats.org/drawingml/2006/main">
            <a:pPr marL="0" indent="0">
              <a:buNone/>
            </a:pPr>
          </a:p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11827"/>
                </a:solidFill>
                <a:latin typeface="Arial"/>
                <a:ea typeface="Arial"/>
                <a:cs typeface="Arial"/>
              </a:rPr>
              <a:t>Limit files, folders, and dependency expansion.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849DF81D-234C-4059-AF5D-6FF65BD84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3977640"/>
            <a:ext cx="5074920" cy="1508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10160">
            <a:solidFill>
              <a:srgbClr val="CBD5E1"/>
            </a:solidFill>
          </a:ln>
        </p:spPr>
        <p:txBody>
          <a:bodyPr xmlns:a="http://schemas.openxmlformats.org/drawingml/2006/main" wrap="square" lIns="2032" tIns="2032" rIns="2032" bIns="2032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11827"/>
                </a:solidFill>
                <a:latin typeface="Arial"/>
                <a:ea typeface="Arial"/>
                <a:cs typeface="Arial"/>
              </a:rPr>
              <a:t>Plan first</a:t>
            </a:r>
          </a:p>
          <a:p xmlns:a="http://schemas.openxmlformats.org/drawingml/2006/main">
            <a:pPr marL="0" indent="0">
              <a:buNone/>
            </a:pPr>
          </a:p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11827"/>
                </a:solidFill>
                <a:latin typeface="Arial"/>
                <a:ea typeface="Arial"/>
                <a:cs typeface="Arial"/>
              </a:rPr>
              <a:t>Inspect, reason, and validate before edits.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16EF33BF-E0B9-40BC-957B-879663383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6355080"/>
            <a:ext cx="108813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475569"/>
                </a:solidFill>
                <a:latin typeface="Arial"/>
                <a:ea typeface="Arial"/>
                <a:cs typeface="Arial"/>
              </a:rPr>
              <a:t>Sources checked: Anthropic Claude Code docs on memory, common workflows, subagents, skills, hooks, and overview.</a:t>
            </a:r>
          </a:p>
        </p:txBody>
      </p:sp>
    </p:spTree>
    <p:extLst>
      <p:ext uri="{BB962C8B-B14F-4D97-AF65-F5344CB8AC3E}">
        <p14:creationId xmlns:p14="http://schemas.microsoft.com/office/powerpoint/2010/main" val="2113562433"/>
      </p:ext>
    </p:extLst>
  </p:cSld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Office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2026-05-20T18:15:51.2990000Z</dcterms:created>
  <dcterms:modified xsi:type="dcterms:W3CDTF">2026-05-20T18:15:51.2990000Z</dcterms:modified>
</coreProperties>
</file>