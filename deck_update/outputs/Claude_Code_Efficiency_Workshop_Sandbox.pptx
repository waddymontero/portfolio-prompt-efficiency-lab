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c03c84a7dd4e1c" /><Relationship Type="http://schemas.openxmlformats.org/officeDocument/2006/relationships/extended-properties" Target="/docProps/app.xml" Id="R3a143d8c22974afd" /><Relationship Type="http://schemas.openxmlformats.org/officeDocument/2006/relationships/officeDocument" Target="/ppt/presentation.xml" Id="R2a4862687e4542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d44a01590e4a99"/>
  </p:sldMasterIdLst>
  <p:notesMasterIdLst>
    <p:notesMasterId xmlns:r="http://schemas.openxmlformats.org/officeDocument/2006/relationships" r:id="Rfb70e22cd9eb4900"/>
  </p:notesMasterIdLst>
  <p:sldIdLst>
    <p:sldId xmlns:r="http://schemas.openxmlformats.org/officeDocument/2006/relationships" id="256" r:id="R96031770c3fa4b78"/>
    <p:sldId xmlns:r="http://schemas.openxmlformats.org/officeDocument/2006/relationships" id="257" r:id="R5fecf9d98ad045c6"/>
    <p:sldId xmlns:r="http://schemas.openxmlformats.org/officeDocument/2006/relationships" id="258" r:id="R825647059ce44f5c"/>
    <p:sldId xmlns:r="http://schemas.openxmlformats.org/officeDocument/2006/relationships" id="259" r:id="Ra9d88399a5254413"/>
    <p:sldId xmlns:r="http://schemas.openxmlformats.org/officeDocument/2006/relationships" id="260" r:id="R25fb75e2be954134"/>
    <p:sldId xmlns:r="http://schemas.openxmlformats.org/officeDocument/2006/relationships" id="261" r:id="R31b4871c73f24e58"/>
    <p:sldId xmlns:r="http://schemas.openxmlformats.org/officeDocument/2006/relationships" id="262" r:id="R280650cc49c543bc"/>
    <p:sldId xmlns:r="http://schemas.openxmlformats.org/officeDocument/2006/relationships" id="263" r:id="R66e42f1582ea4b2c"/>
    <p:sldId xmlns:r="http://schemas.openxmlformats.org/officeDocument/2006/relationships" id="264" r:id="R228b741a97b84bf6"/>
    <p:sldId xmlns:r="http://schemas.openxmlformats.org/officeDocument/2006/relationships" id="265" r:id="R8b66233b7f884bc7"/>
    <p:sldId xmlns:r="http://schemas.openxmlformats.org/officeDocument/2006/relationships" id="266" r:id="R6f660604bfad4d91"/>
    <p:sldId xmlns:r="http://schemas.openxmlformats.org/officeDocument/2006/relationships" id="267" r:id="Ra1d2c43add6f4967"/>
    <p:sldId xmlns:r="http://schemas.openxmlformats.org/officeDocument/2006/relationships" id="268" r:id="R1d2e86e89f7d4e49"/>
    <p:sldId xmlns:r="http://schemas.openxmlformats.org/officeDocument/2006/relationships" id="269" r:id="Re73d72bce96f4bec"/>
    <p:sldId xmlns:r="http://schemas.openxmlformats.org/officeDocument/2006/relationships" id="270" r:id="Rd0b046c9bd0840a9"/>
    <p:sldId xmlns:r="http://schemas.openxmlformats.org/officeDocument/2006/relationships" id="271" r:id="Ra8e81e8eb59f4da6"/>
    <p:sldId xmlns:r="http://schemas.openxmlformats.org/officeDocument/2006/relationships" id="272" r:id="R39a2b339dfb548c0"/>
    <p:sldId xmlns:r="http://schemas.openxmlformats.org/officeDocument/2006/relationships" id="273" r:id="Rd82772517f924634"/>
    <p:sldId xmlns:r="http://schemas.openxmlformats.org/officeDocument/2006/relationships" id="274" r:id="Rf5eadcdd4f3c4f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44a01590e4a99" /><Relationship Type="http://schemas.openxmlformats.org/officeDocument/2006/relationships/theme" Target="/ppt/theme/theme1.xml" Id="R1996ae078d424284" /><Relationship Type="http://schemas.openxmlformats.org/officeDocument/2006/relationships/notesMaster" Target="/ppt/notesMasters/notesMaster1.xml" Id="Rfb70e22cd9eb4900" /><Relationship Type="http://schemas.openxmlformats.org/officeDocument/2006/relationships/presProps" Target="/ppt/presProps.xml" Id="Rc68ddb3d53204c90" /><Relationship Type="http://schemas.openxmlformats.org/officeDocument/2006/relationships/viewProps" Target="/ppt/viewProps.xml" Id="R3bd49616ddee439b" /><Relationship Type="http://schemas.openxmlformats.org/officeDocument/2006/relationships/tableStyles" Target="/ppt/tableStyles.xml" Id="R3a3e979903bb4562" /><Relationship Type="http://schemas.openxmlformats.org/officeDocument/2006/relationships/slide" Target="/ppt/slides/slide1.xml" Id="R96031770c3fa4b78" /><Relationship Type="http://schemas.openxmlformats.org/officeDocument/2006/relationships/slide" Target="/ppt/slides/slide2.xml" Id="R5fecf9d98ad045c6" /><Relationship Type="http://schemas.openxmlformats.org/officeDocument/2006/relationships/slide" Target="/ppt/slides/slide3.xml" Id="R825647059ce44f5c" /><Relationship Type="http://schemas.openxmlformats.org/officeDocument/2006/relationships/slide" Target="/ppt/slides/slide4.xml" Id="Ra9d88399a5254413" /><Relationship Type="http://schemas.openxmlformats.org/officeDocument/2006/relationships/slide" Target="/ppt/slides/slide5.xml" Id="R25fb75e2be954134" /><Relationship Type="http://schemas.openxmlformats.org/officeDocument/2006/relationships/slide" Target="/ppt/slides/slide6.xml" Id="R31b4871c73f24e58" /><Relationship Type="http://schemas.openxmlformats.org/officeDocument/2006/relationships/slide" Target="/ppt/slides/slide7.xml" Id="R280650cc49c543bc" /><Relationship Type="http://schemas.openxmlformats.org/officeDocument/2006/relationships/slide" Target="/ppt/slides/slide8.xml" Id="R66e42f1582ea4b2c" /><Relationship Type="http://schemas.openxmlformats.org/officeDocument/2006/relationships/slide" Target="/ppt/slides/slide9.xml" Id="R228b741a97b84bf6" /><Relationship Type="http://schemas.openxmlformats.org/officeDocument/2006/relationships/slide" Target="/ppt/slides/slide10.xml" Id="R8b66233b7f884bc7" /><Relationship Type="http://schemas.openxmlformats.org/officeDocument/2006/relationships/slide" Target="/ppt/slides/slide11.xml" Id="R6f660604bfad4d91" /><Relationship Type="http://schemas.openxmlformats.org/officeDocument/2006/relationships/slide" Target="/ppt/slides/slide12.xml" Id="Ra1d2c43add6f4967" /><Relationship Type="http://schemas.openxmlformats.org/officeDocument/2006/relationships/slide" Target="/ppt/slides/slide13.xml" Id="R1d2e86e89f7d4e49" /><Relationship Type="http://schemas.openxmlformats.org/officeDocument/2006/relationships/slide" Target="/ppt/slides/slide14.xml" Id="Re73d72bce96f4bec" /><Relationship Type="http://schemas.openxmlformats.org/officeDocument/2006/relationships/slide" Target="/ppt/slides/slide15.xml" Id="Rd0b046c9bd0840a9" /><Relationship Type="http://schemas.openxmlformats.org/officeDocument/2006/relationships/slide" Target="/ppt/slides/slide16.xml" Id="Ra8e81e8eb59f4da6" /><Relationship Type="http://schemas.openxmlformats.org/officeDocument/2006/relationships/slide" Target="/ppt/slides/slide17.xml" Id="R39a2b339dfb548c0" /><Relationship Type="http://schemas.openxmlformats.org/officeDocument/2006/relationships/slide" Target="/ppt/slides/slide18.xml" Id="Rd82772517f924634" /><Relationship Type="http://schemas.openxmlformats.org/officeDocument/2006/relationships/slide" Target="/ppt/slides/slide19.xml" Id="Rf5eadcdd4f3c4f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460824d992b4f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aa3d12082e4a2e" /><Relationship Type="http://schemas.openxmlformats.org/officeDocument/2006/relationships/notesMaster" Target="/ppt/notesMasters/notesMaster1.xml" Id="R076d87cf829b4b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1a7c7580de4dea" /><Relationship Type="http://schemas.openxmlformats.org/officeDocument/2006/relationships/notesMaster" Target="/ppt/notesMasters/notesMaster1.xml" Id="R277465fb780a4b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5a2c5c93e14572" /><Relationship Type="http://schemas.openxmlformats.org/officeDocument/2006/relationships/notesMaster" Target="/ppt/notesMasters/notesMaster1.xml" Id="R49962d065edb4f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c250ac61564686" /><Relationship Type="http://schemas.openxmlformats.org/officeDocument/2006/relationships/notesMaster" Target="/ppt/notesMasters/notesMaster1.xml" Id="R61fc36e6f72d4a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03ca68a462405c" /><Relationship Type="http://schemas.openxmlformats.org/officeDocument/2006/relationships/notesMaster" Target="/ppt/notesMasters/notesMaster1.xml" Id="R5caba790ead841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94810773274e10" /><Relationship Type="http://schemas.openxmlformats.org/officeDocument/2006/relationships/notesMaster" Target="/ppt/notesMasters/notesMaster1.xml" Id="Rf9879eb6e47948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65dbf642804da3" /><Relationship Type="http://schemas.openxmlformats.org/officeDocument/2006/relationships/notesMaster" Target="/ppt/notesMasters/notesMaster1.xml" Id="Rf11d80a7844b4d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c9c629395e41d6" /><Relationship Type="http://schemas.openxmlformats.org/officeDocument/2006/relationships/notesMaster" Target="/ppt/notesMasters/notesMaster1.xml" Id="R319e7388eebc41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a454cb278941e5" /><Relationship Type="http://schemas.openxmlformats.org/officeDocument/2006/relationships/notesMaster" Target="/ppt/notesMasters/notesMaster1.xml" Id="Raa5cf1635b4440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408983a2af4312" /><Relationship Type="http://schemas.openxmlformats.org/officeDocument/2006/relationships/notesMaster" Target="/ppt/notesMasters/notesMaster1.xml" Id="Rd9e9b837c94e49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7b0b4863f1434a" /><Relationship Type="http://schemas.openxmlformats.org/officeDocument/2006/relationships/notesMaster" Target="/ppt/notesMasters/notesMaster1.xml" Id="R78a6a30e197d4b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baf4a1f27d440b" /><Relationship Type="http://schemas.openxmlformats.org/officeDocument/2006/relationships/notesMaster" Target="/ppt/notesMasters/notesMaster1.xml" Id="Rb7fec3f63d7c43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861999f17847e4" /><Relationship Type="http://schemas.openxmlformats.org/officeDocument/2006/relationships/notesMaster" Target="/ppt/notesMasters/notesMaster1.xml" Id="R89f5c123de4a47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85a2e0792a4852" /><Relationship Type="http://schemas.openxmlformats.org/officeDocument/2006/relationships/notesMaster" Target="/ppt/notesMasters/notesMaster1.xml" Id="R260db02ca11243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84b414f68c4785" /><Relationship Type="http://schemas.openxmlformats.org/officeDocument/2006/relationships/notesMaster" Target="/ppt/notesMasters/notesMaster1.xml" Id="R67d2e1fd12a04c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da4b361e7342d4" /><Relationship Type="http://schemas.openxmlformats.org/officeDocument/2006/relationships/notesMaster" Target="/ppt/notesMasters/notesMaster1.xml" Id="R5d92333c6edc4b7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43a7c4aaf154949" /><Relationship Type="http://schemas.openxmlformats.org/officeDocument/2006/relationships/notesMaster" Target="/ppt/notesMasters/notesMaster1.xml" Id="R00f336b2cf754e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eab20e7f6d410e" /><Relationship Type="http://schemas.openxmlformats.org/officeDocument/2006/relationships/notesMaster" Target="/ppt/notesMasters/notesMaster1.xml" Id="R36225c54945d49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b6b915b603541dd" /><Relationship Type="http://schemas.openxmlformats.org/officeDocument/2006/relationships/notesMaster" Target="/ppt/notesMasters/notesMaster1.xml" Id="Rfea214164c4040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benchmark repo and explain that session 1 creates context while session 2 reveals whether that context was reusable.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scorecard before the live run so the audience understands that combined two-session efficiency matters more than a flashy first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Turn the exercise into a two-session rewrite so attendees practice prompting for reuse, not only for a one-off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090c6d0d354722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be376ce6d4d87" /><Relationship Type="http://schemas.openxmlformats.org/officeDocument/2006/relationships/theme" Target="/ppt/theme/theme1.xml" Id="Rf23fa4ceb574401d" /><Relationship Type="http://schemas.openxmlformats.org/officeDocument/2006/relationships/slideLayout" Target="/ppt/slideLayouts/slideLayout2.xml" Id="Re53e6466f318477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597be376ce6d4d87"/>
    <p:sldLayoutId xmlns:r="http://schemas.openxmlformats.org/officeDocument/2006/relationships" id="2147483649" r:id="Re53e6466f3184770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4b9f77c7d64557" /><Relationship Type="http://schemas.openxmlformats.org/officeDocument/2006/relationships/notesSlide" Target="/ppt/notesSlides/notesSlide1.xml" Id="Ree7ed6665cf245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3c8b1cb1774606" /><Relationship Type="http://schemas.openxmlformats.org/officeDocument/2006/relationships/notesSlide" Target="/ppt/notesSlides/notesSlide2.xml" Id="R834face7c6ec43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bdda5326d4451c" /><Relationship Type="http://schemas.openxmlformats.org/officeDocument/2006/relationships/notesSlide" Target="/ppt/notesSlides/notesSlide3.xml" Id="R672112c93dcc4f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90937a3cda4ba1" /><Relationship Type="http://schemas.openxmlformats.org/officeDocument/2006/relationships/notesSlide" Target="/ppt/notesSlides/notesSlide4.xml" Id="R33b5fdc0ee604f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d592d0779b4f89" /><Relationship Type="http://schemas.openxmlformats.org/officeDocument/2006/relationships/notesSlide" Target="/ppt/notesSlides/notesSlide5.xml" Id="R24bd448f30d444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f1a9445b904e3c" /><Relationship Type="http://schemas.openxmlformats.org/officeDocument/2006/relationships/notesSlide" Target="/ppt/notesSlides/notesSlide6.xml" Id="Rc4f6d78c2b2d45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ffc5c9ecad40ee" /><Relationship Type="http://schemas.openxmlformats.org/officeDocument/2006/relationships/notesSlide" Target="/ppt/notesSlides/notesSlide7.xml" Id="Reed7e3ce6db941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a1c6f20b7c4898" /><Relationship Type="http://schemas.openxmlformats.org/officeDocument/2006/relationships/notesSlide" Target="/ppt/notesSlides/notesSlide8.xml" Id="R5d0bc0c9e50946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9bb6ca6c724b19" /><Relationship Type="http://schemas.openxmlformats.org/officeDocument/2006/relationships/notesSlide" Target="/ppt/notesSlides/notesSlide9.xml" Id="R504fa166179c43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a3f6399ec5411f" /><Relationship Type="http://schemas.openxmlformats.org/officeDocument/2006/relationships/notesSlide" Target="/ppt/notesSlides/notesSlide10.xml" Id="R167447b62d0e47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0d2a8e6c2648e6" /><Relationship Type="http://schemas.openxmlformats.org/officeDocument/2006/relationships/notesSlide" Target="/ppt/notesSlides/notesSlide11.xml" Id="Rd172d1ad52d047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04bdb52e2e4072" /><Relationship Type="http://schemas.openxmlformats.org/officeDocument/2006/relationships/notesSlide" Target="/ppt/notesSlides/notesSlide12.xml" Id="R0ba914fff65b47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e93208d0374abe" /><Relationship Type="http://schemas.openxmlformats.org/officeDocument/2006/relationships/notesSlide" Target="/ppt/notesSlides/notesSlide13.xml" Id="Rab5e57c0b6cc48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eef2c1cd164179" /><Relationship Type="http://schemas.openxmlformats.org/officeDocument/2006/relationships/notesSlide" Target="/ppt/notesSlides/notesSlide14.xml" Id="R1c981479296848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e38babf614836" /><Relationship Type="http://schemas.openxmlformats.org/officeDocument/2006/relationships/notesSlide" Target="/ppt/notesSlides/notesSlide15.xml" Id="Rfdd38f10cd7b41a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2876b992b497c" /><Relationship Type="http://schemas.openxmlformats.org/officeDocument/2006/relationships/notesSlide" Target="/ppt/notesSlides/notesSlide16.xml" Id="R028fd9f489ec4a2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7bc8134614a9a" /><Relationship Type="http://schemas.openxmlformats.org/officeDocument/2006/relationships/notesSlide" Target="/ppt/notesSlides/notesSlide17.xml" Id="Rb28fbfbe8be642f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99419b5d804e8a" /><Relationship Type="http://schemas.openxmlformats.org/officeDocument/2006/relationships/notesSlide" Target="/ppt/notesSlides/notesSlide18.xml" Id="R2807bac403524c3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839aac44464e1f" /><Relationship Type="http://schemas.openxmlformats.org/officeDocument/2006/relationships/notesSlide" Target="/ppt/notesSlides/notesSlide19.xml" Id="R27c4bfaa98574a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0E6927E-97F6-4CA9-A956-46133B59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C8A6B1C-DCE2-4C70-B541-E4DBB84B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7772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Efficient Claude Code Workflows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7F3158D-45B6-4EFE-A15E-31D7090F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3392"/>
            <a:ext cx="6583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475569"/>
                </a:solidFill>
                <a:latin typeface="Arial"/>
                <a:ea typeface="Arial"/>
                <a:cs typeface="Arial"/>
              </a:rPr>
              <a:t>Practical agent workflows for data teams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3F67129-2C86-4788-800B-2F63FAE2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99232"/>
            <a:ext cx="5303520" cy="1444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827"/>
                </a:solidFill>
                <a:latin typeface="Arial"/>
                <a:ea typeface="Arial"/>
                <a:cs typeface="Arial"/>
              </a:rPr>
              <a:t>Core idea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827"/>
                </a:solidFill>
                <a:latin typeface="Arial"/>
                <a:ea typeface="Arial"/>
                <a:cs typeface="Arial"/>
              </a:rPr>
              <a:t>Claude Code is most useful when you treat it as a context-constrained engineering assistant, not as a magic repo oracle.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5A99FD5-7F88-4934-88D3-0C8FBD1C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999232"/>
            <a:ext cx="5010912" cy="1444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827"/>
                </a:solidFill>
                <a:latin typeface="Arial"/>
                <a:ea typeface="Arial"/>
                <a:cs typeface="Arial"/>
              </a:rPr>
              <a:t>Workshop outcome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827"/>
                </a:solidFill>
                <a:latin typeface="Arial"/>
                <a:ea typeface="Arial"/>
                <a:cs typeface="Arial"/>
              </a:rPr>
              <a:t>People should leave with repeatable prompts, safer workflows, and fewer token-burning repo scans.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2F8E5C-11A2-4E64-A4A6-62962757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80644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Context engineering &gt; brute-force prompting</a:t>
            </a:r>
          </a:p>
        </p:txBody>
      </p:sp>
    </p:spTree>
    <p:extLst>
      <p:ext uri="{BB962C8B-B14F-4D97-AF65-F5344CB8AC3E}">
        <p14:creationId xmlns:p14="http://schemas.microsoft.com/office/powerpoint/2010/main" val="1892134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2077D73-E3E5-45CD-8C8D-4FCEFF4F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3AE198-0F71-4DE4-A408-74E683B9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85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Why bad Claude Code sessions happen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7759E5A-5FF4-4777-B66F-2BF30353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95528"/>
            <a:ext cx="11185855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Most failures are context failures, not intelligence failures.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5FC49EB-7DE6-47A1-8CB2-989D9C28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88136"/>
            <a:ext cx="111858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4915415-5F1D-4967-83C7-7192443F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4752"/>
            <a:ext cx="516636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Wrong mental model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People ask broad questions and hope the agent finds the right scope.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The agent loads too much irrelevant code and loses signal.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Sessions become long, noisy, and expensive.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Good users shape context before asking for work.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95FDA7A-C41A-4BFE-AF7B-BA946F19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4752"/>
            <a:ext cx="534924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Opening prompt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Before answering, ask for any missing scope.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Do not scan the full repository unless you can justify it.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Return: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1. files/folders you need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2. assumptions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3. smallest useful next step</a:t>
            </a:r>
          </a:p>
        </p:txBody>
      </p:sp>
    </p:spTree>
    <p:extLst>
      <p:ext uri="{BB962C8B-B14F-4D97-AF65-F5344CB8AC3E}">
        <p14:creationId xmlns:p14="http://schemas.microsoft.com/office/powerpoint/2010/main" val="221232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42F9E38-91BD-4544-BB88-E30C5F7E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BB5795F-9A65-4334-A6BD-9AA8827B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85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3 constraints that drive most bad sessions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CC159D8-2D62-428E-9B7B-A068BFAF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95528"/>
            <a:ext cx="11185855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If people understand these, their prompts improve quickly.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012564D-0BC7-4AE5-837F-BDD724B9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88136"/>
            <a:ext cx="111858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75D1BF4-1697-461E-AB18-C8AE0D00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00200"/>
            <a:ext cx="27889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Context window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Long sessions get noisy.</a:t>
            </a:r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Old details compete with new ones.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7619F36-4AE5-4224-827A-628B5D35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64" y="1600200"/>
            <a:ext cx="27889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Token budget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Huge scans are slow and expensive.</a:t>
            </a:r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Summaries are cheaper than raw reads.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65EC05-6A68-418A-83D1-B9DA6D25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600200"/>
            <a:ext cx="27889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Search scope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Wide searches create false leads.</a:t>
            </a:r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Narrow scope creates precision.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426D6F0-4001-4FA6-8491-B97FAC15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572000"/>
            <a:ext cx="93726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Control prompt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320">
                <a:solidFill>
                  <a:srgbClr val="111827"/>
                </a:solidFill>
                <a:latin typeface="Arial"/>
                <a:ea typeface="Arial"/>
                <a:cs typeface="Arial"/>
              </a:rPr>
              <a:t>Before answering, list the exact files or folders you need. Do not inspect the whole repo unless you can justify why.</a:t>
            </a:r>
          </a:p>
        </p:txBody>
      </p:sp>
    </p:spTree>
    <p:extLst>
      <p:ext uri="{BB962C8B-B14F-4D97-AF65-F5344CB8AC3E}">
        <p14:creationId xmlns:p14="http://schemas.microsoft.com/office/powerpoint/2010/main" val="1632966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E6DB79-7DBD-44DB-9AB7-5EA147F9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BCD5B7A-0EA2-4E80-8C11-76608F25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85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Failure mode: wide repo scans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4CFECF6-94A1-42D7-9CA4-CA14A5EF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95528"/>
            <a:ext cx="11185855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Do not let a small question become a 13k-model scan.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F8F6021-B157-4F7F-9CE2-6F774F8E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88136"/>
            <a:ext cx="111858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881374-A4F5-4F21-9865-67E54418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4752"/>
            <a:ext cx="516636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Symptom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Agent reads broadly before understanding the dependency boundary.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It spends tokens on irrelevant files.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It gives plausible but incomplete answers.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The same discovery work is repeated next time.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FD54585-2131-493C-93AE-D4357D71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4752"/>
            <a:ext cx="534924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Bad vs better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Bad: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Which models are downstream of model_x?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Better: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Use docs/dbt_lineage.md first.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If missing, inspect only model_x and direct refs.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Expand one dependency layer at a time.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Stop and summarize before continuing.</a:t>
            </a:r>
          </a:p>
        </p:txBody>
      </p:sp>
    </p:spTree>
    <p:extLst>
      <p:ext uri="{BB962C8B-B14F-4D97-AF65-F5344CB8AC3E}">
        <p14:creationId xmlns:p14="http://schemas.microsoft.com/office/powerpoint/2010/main" val="17823378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ED1A2A3-4A3E-42DF-BD89-E36DFE6A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C85846C-DC2C-4DD5-AF5E-72BDF124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85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Better operating loop: discover once, reuse often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553BDA6-7846-4E65-A0E6-69E70008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95528"/>
            <a:ext cx="11185855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A small upfront map usually saves many expensive sessions later.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68F2517-6A8A-48B7-9213-57DD4B22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88136"/>
            <a:ext cx="111858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7CE2D7-DA00-4D0B-8206-6A3A29BA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2423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1  Discover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Map architecture and conventions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D2229B2-1863-498F-8EFF-0293FB34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1645920"/>
            <a:ext cx="2423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2  Scope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Narrow to relevant paths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C7ACB9E-83E2-41C7-8E05-82CBE206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1645920"/>
            <a:ext cx="2423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3  Plan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List assumptions and risks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89CE76B-0EC5-4F55-865F-8F628297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1645920"/>
            <a:ext cx="2423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4  Execute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Edit, test, validate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4F6F1C5-250A-4C93-9794-B2914D96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97680"/>
            <a:ext cx="996696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11827"/>
                </a:solidFill>
                <a:latin typeface="Arial"/>
                <a:ea typeface="Arial"/>
                <a:cs typeface="Arial"/>
              </a:rPr>
              <a:t>Workflow prompt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11827"/>
                </a:solidFill>
                <a:latin typeface="Arial"/>
                <a:ea typeface="Arial"/>
                <a:cs typeface="Arial"/>
              </a:rPr>
              <a:t>We are in discovery mode. Do not modify files. Create a short plan for building reusable docs first, then wait.</a:t>
            </a:r>
          </a:p>
        </p:txBody>
      </p:sp>
    </p:spTree>
    <p:extLst>
      <p:ext uri="{BB962C8B-B14F-4D97-AF65-F5344CB8AC3E}">
        <p14:creationId xmlns:p14="http://schemas.microsoft.com/office/powerpoint/2010/main" val="3130314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F05CE59-8586-416E-A214-F1A29D24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9F5DE80-4AA9-4066-B297-42AFA77B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85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Reusable artifact: repo map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F0E1CD9-FE97-4610-BBD2-6B8E1462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95528"/>
            <a:ext cx="11185855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Keep this concise. It is an index, not a second repository.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8381FAD-2D94-4354-88A4-8405DA3D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88136"/>
            <a:ext cx="111858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0AAFE9-0400-4C04-9890-1DFE0DFD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4752"/>
            <a:ext cx="516636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it should contain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Major folders and ownership boundaries.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Build, test, and deploy entrypoints.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Data flow and dependency conventions.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Known commands and validation steps.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Areas the agent should not touch casually.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859B74A-95F9-4427-9219-8B3CABB3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4752"/>
            <a:ext cx="534924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PROMPT STARTER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Create docs/repo_map.md.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Include: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1. high-level architecture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2. important folders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3. build/test commands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4. data flow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5. risky areas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Keep it under 200 lines.</a:t>
            </a:r>
          </a:p>
        </p:txBody>
      </p:sp>
    </p:spTree>
    <p:extLst>
      <p:ext uri="{BB962C8B-B14F-4D97-AF65-F5344CB8AC3E}">
        <p14:creationId xmlns:p14="http://schemas.microsoft.com/office/powerpoint/2010/main" val="2664987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E7A5641-9A87-4C27-8C28-33C09481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58B40FB-B176-461E-A867-BF2EF2AB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85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Claude Code memory: CLAUDE.md, not vibes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95350F-5F3A-49E6-B116-6E068452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95528"/>
            <a:ext cx="11185855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Project memory should contain stable rules, not every conversation detail.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E287F93-9128-40F3-9684-6535F727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88136"/>
            <a:ext cx="111858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5F6A63-C260-4E93-BACE-54C7E0B6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4752"/>
            <a:ext cx="516636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Use project memory deliberately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Put stable project rules in CLAUDE.md.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Use it for standards, commands, architecture decisions, and workflows.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Do not dump giant docs into it.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When Claude repeats a mistake, write the correction down.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47DE5AA-85DE-45D9-8CD7-172773A9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4752"/>
            <a:ext cx="534924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PROMPT STARTER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Update CLAUDE.md with only stable project instructions.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Add: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- build command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- test command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- dbt naming conventions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- forbidden shortcuts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Keep it concise and specific.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D15484B-9DA4-4824-AFB0-60641EC6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83096"/>
            <a:ext cx="11185855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>
                <a:solidFill>
                  <a:srgbClr val="475569"/>
                </a:solidFill>
                <a:latin typeface="Arial"/>
                <a:ea typeface="Arial"/>
                <a:cs typeface="Arial"/>
              </a:rPr>
              <a:t>Claude Code docs recommend concise CLAUDE.md files; oversized memory consumes context.</a:t>
            </a:r>
          </a:p>
        </p:txBody>
      </p:sp>
    </p:spTree>
    <p:extLst>
      <p:ext uri="{BB962C8B-B14F-4D97-AF65-F5344CB8AC3E}">
        <p14:creationId xmlns:p14="http://schemas.microsoft.com/office/powerpoint/2010/main" val="17333972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9B2926-269C-40CC-B85B-A14C63EA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9634A4D-4BD7-4083-A8D8-83AE9CFD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85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Scoping: the cheapest quality improvement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F654089-2CB8-4BCF-8586-A754D9E3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95528"/>
            <a:ext cx="11185855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Most token waste is self-inflicted by vague scope.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B30D9CA-0271-4C2D-BD1C-D8DB6D8A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88136"/>
            <a:ext cx="111858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DC6B552-4F88-4119-8080-7976FB7F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4752"/>
            <a:ext cx="516636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Rules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Name exact folders or files.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Name what to ignore.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Limit dependency expansion step by step.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Ask for justification before broadening scope.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991ADE2-81D4-4DBE-BD29-DCD7B7C3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4752"/>
            <a:ext cx="534924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PROMPT STARTER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Scope: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- models/silver/customer/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- models/gold/customer_reporting/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Ignore: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- archived/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- snapshots/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- unrelated marts/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If you need more files, ask and explain why.</a:t>
            </a:r>
          </a:p>
        </p:txBody>
      </p:sp>
    </p:spTree>
    <p:extLst>
      <p:ext uri="{BB962C8B-B14F-4D97-AF65-F5344CB8AC3E}">
        <p14:creationId xmlns:p14="http://schemas.microsoft.com/office/powerpoint/2010/main" val="10700397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0FD56E8-F27E-407D-AF29-FA3B99A6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2244FE-833D-430A-882A-4BB0C19B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85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Plan before editing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23D65F1-7A9D-43D8-882B-C684E13B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95528"/>
            <a:ext cx="11185855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Production work needs diagnosis, risk review, and validation before file edits.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17B85C-A147-44B4-A3E0-B50C3784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88136"/>
            <a:ext cx="111858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95F001B-3697-4615-A99F-5294F343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4752"/>
            <a:ext cx="516636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Separate diagnosis from action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First inspect the implementation.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Then list assumptions and risks.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Then propose the smallest safe change.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Only then allow file edits.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D0E843B-74E7-4AF8-855D-AF620A24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4752"/>
            <a:ext cx="534924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PROMPT STARTER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First inspect the current implementation.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Do not modify files yet.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Return: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1. current behavior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2. proposed change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3. risks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4. tests to run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5. files you would edit</a:t>
            </a:r>
          </a:p>
        </p:txBody>
      </p:sp>
    </p:spTree>
    <p:extLst>
      <p:ext uri="{BB962C8B-B14F-4D97-AF65-F5344CB8AC3E}">
        <p14:creationId xmlns:p14="http://schemas.microsoft.com/office/powerpoint/2010/main" val="1212704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9AC09A9-A12D-45B9-9596-A8C3CD7A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A688837-293B-4C4B-9414-274720E4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85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dbt impact analysis: practical pattern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DF0D28-F65B-44B5-87FC-A9718510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95528"/>
            <a:ext cx="11185855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This is the pattern behind your original advice.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2D29116-2874-4929-925E-242A0795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88136"/>
            <a:ext cx="111858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852505C-C89A-4E8B-B537-049B25D7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4752"/>
            <a:ext cx="516636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For large dbt projects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Use existing lineage docs first if available.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Inspect from the changed model outward.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Expand one dependency layer at a time.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Persist useful lineage conclusions for future tasks.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Do not inspect every model file by default.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E69EBAF-2FED-4DAE-98D4-0EF1F4E3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4752"/>
            <a:ext cx="534924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PROMPT STARTER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Task: assess impact of changing model_x.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Steps: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1. check existing lineage docs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2. inspect model_x only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3. list direct children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4. expand one layer if needed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5. save summary to docs/dbt_lineage_notes.md</a:t>
            </a:r>
          </a:p>
        </p:txBody>
      </p:sp>
    </p:spTree>
    <p:extLst>
      <p:ext uri="{BB962C8B-B14F-4D97-AF65-F5344CB8AC3E}">
        <p14:creationId xmlns:p14="http://schemas.microsoft.com/office/powerpoint/2010/main" val="21441826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E7BD7EF-3E65-42ED-9E54-7D732852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0134A09-1923-4C6B-81EB-97DF030F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85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Token hygiene for long sessions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650B2AF-8FCC-4656-AD9E-53B6315C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95528"/>
            <a:ext cx="11185855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Use summaries and isolated research to keep the main thread clean.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326FAF2-E1E1-4A63-A0CC-0C6F63DA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88136"/>
            <a:ext cx="111858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28186F-B845-4582-80A7-B80530C4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4752"/>
            <a:ext cx="516636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Keep the main context clean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Summarize before continuing.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Compact or restart between major tasks.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Move stable findings into markdown artifacts.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Use subagents for noisy research when available.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DDC8A5D-B6F6-4B4F-A631-A2DD6D1B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4752"/>
            <a:ext cx="534924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PROMPT STARTER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Summarize the current findings into docs/task_notes.md.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Then continue using that file as the source of truth.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Avoid repeating the same repository scan.</a:t>
            </a:r>
          </a:p>
        </p:txBody>
      </p:sp>
    </p:spTree>
    <p:extLst>
      <p:ext uri="{BB962C8B-B14F-4D97-AF65-F5344CB8AC3E}">
        <p14:creationId xmlns:p14="http://schemas.microsoft.com/office/powerpoint/2010/main" val="13080635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E0F547-E906-4285-8FC4-9F77BB5D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28F6B2-A4C0-4FF8-A3FD-2DDFF3C5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85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Suggested team artifact set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5D601F2-D463-4223-8A1B-7821523B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95528"/>
            <a:ext cx="11185855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Give people reusable context, not a blank prompt box every morning.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E24FB09-0BA0-4B17-82F3-264151BA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88136"/>
            <a:ext cx="111858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A645970-E166-4B43-8C27-22342955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81328"/>
            <a:ext cx="30175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docs/repo_map.md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A5C6DF0-3F84-41C5-8463-CEFEF495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1481328"/>
            <a:ext cx="731520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>
                <a:solidFill>
                  <a:srgbClr val="111827"/>
                </a:solidFill>
                <a:latin typeface="Arial"/>
                <a:ea typeface="Arial"/>
                <a:cs typeface="Arial"/>
              </a:rPr>
              <a:t>Repository structure, commands, risky areas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E98A641-2D51-4DB4-ABCD-E5B3BFD1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57984"/>
            <a:ext cx="30175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docs/team_conventions.md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3730B15-6FB0-456B-9A4D-7A5D564E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2157984"/>
            <a:ext cx="731520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>
                <a:solidFill>
                  <a:srgbClr val="111827"/>
                </a:solidFill>
                <a:latin typeface="Arial"/>
                <a:ea typeface="Arial"/>
                <a:cs typeface="Arial"/>
              </a:rPr>
              <a:t>Naming, layer conventions, code review rules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15A7C3D-25EC-47E5-A774-FAF92861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834640"/>
            <a:ext cx="30175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docs/dbt_lineage.md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2411978-DF94-4E92-B082-1D5D85AD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2834640"/>
            <a:ext cx="731520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>
                <a:solidFill>
                  <a:srgbClr val="111827"/>
                </a:solidFill>
                <a:latin typeface="Arial"/>
                <a:ea typeface="Arial"/>
                <a:cs typeface="Arial"/>
              </a:rPr>
              <a:t>Important model dependencies and impact notes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10D9A8-86D7-4BAA-AFE0-4765FA10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11296"/>
            <a:ext cx="30175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docs/runbooks/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FDDCC4E-8491-4CB0-AB3D-DBC858F4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3511296"/>
            <a:ext cx="731520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>
                <a:solidFill>
                  <a:srgbClr val="111827"/>
                </a:solidFill>
                <a:latin typeface="Arial"/>
                <a:ea typeface="Arial"/>
                <a:cs typeface="Arial"/>
              </a:rPr>
              <a:t>Common operational procedures and validation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FDEA316-A2A1-4EE1-9B3D-B6377D1A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187952"/>
            <a:ext cx="30175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>
                <a:solidFill>
                  <a:srgbClr val="111827"/>
                </a:solidFill>
                <a:latin typeface="Arial"/>
                <a:ea typeface="Arial"/>
                <a:cs typeface="Arial"/>
              </a:rPr>
              <a:t>CLAUDE.md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BE52F73-E3C9-4C1E-881C-B058683C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4187952"/>
            <a:ext cx="731520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>
                <a:solidFill>
                  <a:srgbClr val="111827"/>
                </a:solidFill>
                <a:latin typeface="Arial"/>
                <a:ea typeface="Arial"/>
                <a:cs typeface="Arial"/>
              </a:rPr>
              <a:t>Stable instructions loaded into Claude Code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915AF06-5507-4ADB-AAFB-0C0EE9CD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532120"/>
            <a:ext cx="96469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11827"/>
                </a:solidFill>
                <a:latin typeface="Arial"/>
                <a:ea typeface="Arial"/>
                <a:cs typeface="Arial"/>
              </a:rPr>
              <a:t>Team setup prompt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11827"/>
                </a:solidFill>
                <a:latin typeface="Arial"/>
                <a:ea typeface="Arial"/>
                <a:cs typeface="Arial"/>
              </a:rPr>
              <a:t>Review the repository and propose which reusable artifacts are missing. Do not create files yet. Return a priority list.</a:t>
            </a:r>
          </a:p>
        </p:txBody>
      </p:sp>
    </p:spTree>
    <p:extLst>
      <p:ext uri="{BB962C8B-B14F-4D97-AF65-F5344CB8AC3E}">
        <p14:creationId xmlns:p14="http://schemas.microsoft.com/office/powerpoint/2010/main" val="2892467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DCFA57-8C0B-4C91-A8E4-BE701EB3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A84816-018E-4AAF-8882-DBDD0BC9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85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Default prompt template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14B4740-90B2-4269-A78D-9C8718CB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95528"/>
            <a:ext cx="11185855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Use this when someone is unsure how to ask.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231FB54-3203-4A3A-B0B6-70706330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88136"/>
            <a:ext cx="111858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3A8800A-0B89-46BF-8725-9C2AB5BD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4752"/>
            <a:ext cx="516636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Template sections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Context: what system/repo/pipeline is this?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Scope: files, folders, models, DAGs, tables.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Goal: decision, diagnosis, change, or explanation.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Constraints: what must not break.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Output: plan, diff, SQL, markdown, checklist.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4B96212-1302-4722-A20C-B5CB14FB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4752"/>
            <a:ext cx="534924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Copy / paste template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Context: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&lt;what system / repo / pipeline is this?&gt;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Scope: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&lt;files, folders, models, DAGs, tables&gt;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Goal: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&lt;what decision or change is needed?&gt;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Constraints: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&lt;what must not break?&gt;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Output: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&lt;plan, diff, SQL, markdown, checklist&gt;</a:t>
            </a:r>
          </a:p>
        </p:txBody>
      </p:sp>
    </p:spTree>
    <p:extLst>
      <p:ext uri="{BB962C8B-B14F-4D97-AF65-F5344CB8AC3E}">
        <p14:creationId xmlns:p14="http://schemas.microsoft.com/office/powerpoint/2010/main" val="19286708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7751E5-8E9C-4D3B-BE68-61A6EBB5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9E1951-C707-4B8A-9586-FD99BA5F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85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Claude-Code-specific features worth knowing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0946CC2-A844-4E81-A26E-6A0B1046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95528"/>
            <a:ext cx="11185855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Feature names should be verified against your company-installed Claude Code version.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5C548B0-7E16-46C3-9D60-99D7704A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88136"/>
            <a:ext cx="111858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8EEBCEF-16BA-46F3-8BE1-8FA4F5CE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4752"/>
            <a:ext cx="516636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Use features to control context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/init can generate or improve a starting CLAUDE.md.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/compact reduces context size in long sessions.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Subagents can isolate noisy research and return summaries.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Skills capture repeated workflows without always loading details.</a:t>
            </a:r>
          </a:p>
          <a:p xmlns:a="http://schemas.openxmlformats.org/drawingml/2006/main">
            <a:pPr marL="0" indent="0">
              <a:buNone/>
            </a:pPr>
            <a:r>
              <a:rPr sz="142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Hooks can enforce deterministic actions like formatting or validation.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64CD44D-6BD6-4929-B164-7C26BBF4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4752"/>
            <a:ext cx="534924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794" tIns="2794" rIns="2794" bIns="279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PROMPT STARTER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/init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/compact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Use a subagent for noisy research: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"Research this dependency chain and return only the summary."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Create a skill when the same workflow is repeated.</a:t>
            </a:r>
          </a:p>
        </p:txBody>
      </p:sp>
    </p:spTree>
    <p:extLst>
      <p:ext uri="{BB962C8B-B14F-4D97-AF65-F5344CB8AC3E}">
        <p14:creationId xmlns:p14="http://schemas.microsoft.com/office/powerpoint/2010/main" val="20345457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1D260D-3ED6-4497-9523-2008BC92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219200" cy="571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7F84A-22F7-4E57-9238-696380D7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3C8"/>
                </a:solidFill>
              </a:defRPr>
            </a:pPr>
            <a:r>
              <a:rPr sz="1350" b="1">
                <a:solidFill>
                  <a:srgbClr val="FFD3C8"/>
                </a:solidFill>
              </a:rPr>
              <a:t>SANDBOX REPO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3215E-F87C-4169-AC16-A9C85094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609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6F7"/>
                </a:solidFill>
              </a:defRPr>
            </a:pPr>
            <a:r>
              <a:rPr sz="2550" b="1">
                <a:solidFill>
                  <a:srgbClr val="F5F6F7"/>
                </a:solidFill>
              </a:rPr>
              <a:t>Portfolio Prompt Efficiency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CF55F-41AF-44E5-B72E-CB2D3E18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0668000" cy="4953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A0AA"/>
                </a:solidFill>
              </a:defRPr>
            </a:pPr>
            <a:r>
              <a:rPr sz="1500" b="0">
                <a:solidFill>
                  <a:srgbClr val="97A0AA"/>
                </a:solidFill>
              </a:rPr>
              <a:t>A compact dbt + DuckDB benchmark repo designed for a two-session prompt-efficiency comparison.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D95C6-C927-4E8B-9D8B-F788E229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4953000" cy="3714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A1D21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719B0-12D3-42AA-BA4D-0C05C069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28575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6F7"/>
                </a:solidFill>
              </a:defRPr>
            </a:pPr>
            <a:r>
              <a:rPr sz="1800" b="1">
                <a:solidFill>
                  <a:srgbClr val="F5F6F7"/>
                </a:solidFill>
              </a:rPr>
              <a:t>Why this repo works 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558BF-2386-4213-91EF-165F5E07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4286250" cy="5143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D8DC"/>
                </a:solidFill>
              </a:defRPr>
            </a:pPr>
            <a:r>
              <a:rPr sz="1725" b="0">
                <a:solidFill>
                  <a:srgbClr val="D6D8DC"/>
                </a:solidFill>
              </a:rPr>
              <a:t>• Relevant slice: portfolio reporting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53297-102D-4DB0-B7AF-DE3DA9C2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286250" cy="5143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D8DC"/>
                </a:solidFill>
              </a:defRPr>
            </a:pPr>
            <a:r>
              <a:rPr sz="1725" b="0">
                <a:solidFill>
                  <a:srgbClr val="D6D8DC"/>
                </a:solidFill>
              </a:rPr>
              <a:t>• Irrelevant slice: compliance and archived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F3E2E-EBE9-46D6-AF43-4097946F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286250" cy="5143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D8DC"/>
                </a:solidFill>
              </a:defRPr>
            </a:pPr>
            <a:r>
              <a:rPr sz="1725" b="0">
                <a:solidFill>
                  <a:srgbClr val="D6D8DC"/>
                </a:solidFill>
              </a:rPr>
              <a:t>• Small enough to inspect, rich enough for joins and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C254C-B1CA-44AE-A015-48695453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4286250" cy="5143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D8DC"/>
                </a:solidFill>
              </a:defRPr>
            </a:pPr>
            <a:r>
              <a:rPr sz="1725" b="0">
                <a:solidFill>
                  <a:srgbClr val="D6D8DC"/>
                </a:solidFill>
              </a:rPr>
              <a:t>• Reusable artifacts reduce repeated repo scans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84685-3FAE-4358-BE69-DA7AA135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47900"/>
            <a:ext cx="5524500" cy="3714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5E598-1948-4615-B66A-2563DE0A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2286000" cy="3048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6F7"/>
                </a:solidFill>
              </a:defRPr>
            </a:pPr>
            <a:r>
              <a:rPr sz="1800" b="1">
                <a:solidFill>
                  <a:srgbClr val="F5F6F7"/>
                </a:solidFill>
              </a:rPr>
              <a:t>Three-task arc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5BF3C-5B59-48E9-99B9-75B5143C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6F7"/>
                </a:solidFill>
              </a:defRPr>
            </a:pPr>
            <a:r>
              <a:rPr sz="1650" b="1">
                <a:solidFill>
                  <a:srgbClr val="F5F6F7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FDACE-C491-444C-BB7A-F426C331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09900"/>
            <a:ext cx="1905000" cy="285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6F7"/>
                </a:solidFill>
              </a:defRPr>
            </a:pPr>
            <a:r>
              <a:rPr sz="1650" b="1">
                <a:solidFill>
                  <a:srgbClr val="F5F6F7"/>
                </a:solidFill>
              </a:rPr>
              <a:t>Session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BE47B-7648-4A11-BE86-F30A862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95650"/>
            <a:ext cx="4095750" cy="4953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8DC"/>
                </a:solidFill>
              </a:defRPr>
            </a:pPr>
            <a:r>
              <a:rPr sz="1350" b="0">
                <a:solidFill>
                  <a:srgbClr val="D6D8DC"/>
                </a:solidFill>
              </a:rPr>
              <a:t>Discovery + impact analysis create reusable repo context.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BCDA9-F5CE-47AA-9D39-B470E129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6F7"/>
                </a:solidFill>
              </a:defRPr>
            </a:pPr>
            <a:r>
              <a:rPr sz="1650" b="1">
                <a:solidFill>
                  <a:srgbClr val="F5F6F7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58050-8C6E-49CD-BC6F-829E7362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86200"/>
            <a:ext cx="1905000" cy="285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6F7"/>
                </a:solidFill>
              </a:defRPr>
            </a:pPr>
            <a:r>
              <a:rPr sz="1650" b="1">
                <a:solidFill>
                  <a:srgbClr val="F5F6F7"/>
                </a:solidFill>
              </a:rPr>
              <a:t>Reset chat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599B3-2549-489A-8A05-8034D46D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71950"/>
            <a:ext cx="4095750" cy="4953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8DC"/>
                </a:solidFill>
              </a:defRPr>
            </a:pPr>
            <a:r>
              <a:rPr sz="1350" b="0">
                <a:solidFill>
                  <a:srgbClr val="D6D8DC"/>
                </a:solidFill>
              </a:rPr>
              <a:t>Start a fresh agent session but keep the repo artifacts.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573D2E-72E5-49D6-A7BD-9CB31514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81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6F7"/>
                </a:solidFill>
              </a:defRPr>
            </a:pPr>
            <a:r>
              <a:rPr sz="1650" b="1">
                <a:solidFill>
                  <a:srgbClr val="F5F6F7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5FE8CF-6F25-4E4E-A2EF-A5AC06A7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62500"/>
            <a:ext cx="1905000" cy="285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6F7"/>
                </a:solidFill>
              </a:defRPr>
            </a:pPr>
            <a:r>
              <a:rPr sz="1650" b="1">
                <a:solidFill>
                  <a:srgbClr val="F5F6F7"/>
                </a:solidFill>
              </a:rPr>
              <a:t>Session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FFA2D-7650-4F8B-9E97-C91E2AAA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48250"/>
            <a:ext cx="4095750" cy="4953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8DC"/>
                </a:solidFill>
              </a:defRPr>
            </a:pPr>
            <a:r>
              <a:rPr sz="1350" b="0">
                <a:solidFill>
                  <a:srgbClr val="D6D8DC"/>
                </a:solidFill>
              </a:rPr>
              <a:t>Implementation reuses saved artifacts instead of rediscovery.</a:t>
            </a:r>
          </a:p>
        </p:txBody>
      </p:sp>
    </p:spTree>
    <p:extLst>
      <p:ext uri="{BB962C8B-B14F-4D97-AF65-F5344CB8AC3E}">
        <p14:creationId xmlns:p14="http://schemas.microsoft.com/office/powerpoint/2010/main" val="12413493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AC70A1-7B81-43A1-8061-CF85CD5A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219200" cy="571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EC81D-8C52-4A1F-9810-BC1E26D9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3C8"/>
                </a:solidFill>
              </a:defRPr>
            </a:pPr>
            <a:r>
              <a:rPr sz="1350" b="1">
                <a:solidFill>
                  <a:srgbClr val="FFD3C8"/>
                </a:solidFill>
              </a:rPr>
              <a:t>COMPARISON 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D00EA-2466-4E45-823B-BAEDFDB2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609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6F7"/>
                </a:solidFill>
              </a:defRPr>
            </a:pPr>
            <a:r>
              <a:rPr sz="2550" b="1">
                <a:solidFill>
                  <a:srgbClr val="F5F6F7"/>
                </a:solidFill>
              </a:rPr>
              <a:t>Live Comparison Scorecard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4CEE0-9788-4704-AD4B-91B32638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0668000" cy="4953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A0AA"/>
                </a:solidFill>
              </a:defRPr>
            </a:pPr>
            <a:r>
              <a:rPr sz="1500" b="0">
                <a:solidFill>
                  <a:srgbClr val="97A0AA"/>
                </a:solidFill>
              </a:rPr>
              <a:t>Define efficiency across two sessions so the audience knows what reuse should look like.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EFEC9-F665-486D-B67E-25411159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34290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AA7F1-1ADE-456D-BF2D-6EE3B15A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6F7"/>
                </a:solidFill>
              </a:defRPr>
            </a:pPr>
            <a:r>
              <a:rPr sz="1650" b="1">
                <a:solidFill>
                  <a:srgbClr val="F5F6F7"/>
                </a:solidFill>
              </a:rPr>
              <a:t>Proxy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C996F-E21E-4FDE-B663-BD2C440A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333375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A1F1A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BAEB7-5C4C-4548-8901-C805E7AC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19350"/>
            <a:ext cx="2952750" cy="285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6F7"/>
                </a:solidFill>
              </a:defRPr>
            </a:pPr>
            <a:r>
              <a:rPr sz="1650" b="1">
                <a:solidFill>
                  <a:srgbClr val="F5F6F7"/>
                </a:solidFill>
              </a:rPr>
              <a:t>Careless Prompt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8FD6D-0E22-461C-9DB3-E9DA36E5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47900"/>
            <a:ext cx="390525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3124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E81A3-E095-49AA-BB05-130C84CA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3524250" cy="285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6F7"/>
                </a:solidFill>
              </a:defRPr>
            </a:pPr>
            <a:r>
              <a:rPr sz="1650" b="1">
                <a:solidFill>
                  <a:srgbClr val="F5F6F7"/>
                </a:solidFill>
              </a:rPr>
              <a:t>Disciplined Prompt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3B50E-55C6-48CE-96D7-9B3BF92F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3429000" cy="5143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A1D21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7D054-9B1D-4CA8-93AA-455D6195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9900"/>
            <a:ext cx="3333750" cy="5143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A1714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5A111-E462-4A0F-9574-3FD6D0C6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3905250" cy="5143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2281D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487B1-5913-4873-BD9F-9E08325E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30861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6F7"/>
                </a:solidFill>
              </a:defRPr>
            </a:pPr>
            <a:r>
              <a:rPr sz="1500" b="1">
                <a:solidFill>
                  <a:srgbClr val="F5F6F7"/>
                </a:solidFill>
              </a:rPr>
              <a:t>Session 1 churn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AD160-F25D-4745-9C01-C48C2738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24200"/>
            <a:ext cx="299085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9A86"/>
                </a:solidFill>
              </a:defRPr>
            </a:pPr>
            <a:r>
              <a:rPr sz="1200" b="0">
                <a:solidFill>
                  <a:srgbClr val="FF9A86"/>
                </a:solidFill>
              </a:rPr>
              <a:t>Did it overscan or repeat discovery work?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30FC1-AA6A-4AE2-BD0E-3CBF35E6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24200"/>
            <a:ext cx="356235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E28B"/>
                </a:solidFill>
              </a:defRPr>
            </a:pPr>
            <a:r>
              <a:rPr sz="1200" b="0">
                <a:solidFill>
                  <a:srgbClr val="8BE28B"/>
                </a:solidFill>
              </a:rPr>
              <a:t>Did it create clean reusable artifacts?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55FEF-C6F0-4B83-A53D-A9428B58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3429000" cy="5143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A1D21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D48FA-0FA6-46A0-8709-3335101F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57600"/>
            <a:ext cx="3333750" cy="5143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A1714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C335D-2477-4CE4-859D-AF4C2B81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57600"/>
            <a:ext cx="3905250" cy="5143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2281D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E38B2-7D93-416C-8422-AC9661A4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30861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6F7"/>
                </a:solidFill>
              </a:defRPr>
            </a:pPr>
            <a:r>
              <a:rPr sz="1500" b="1">
                <a:solidFill>
                  <a:srgbClr val="F5F6F7"/>
                </a:solidFill>
              </a:rPr>
              <a:t>Session 2 reuse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273768-2CC6-4619-8EED-5D9499FF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71900"/>
            <a:ext cx="299085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9A86"/>
                </a:solidFill>
              </a:defRPr>
            </a:pPr>
            <a:r>
              <a:rPr sz="1200" b="0">
                <a:solidFill>
                  <a:srgbClr val="FF9A86"/>
                </a:solidFill>
              </a:rPr>
              <a:t>Did it rediscover the repo from scratch?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2FAC1B-8472-446C-A4C2-C456EFB3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71900"/>
            <a:ext cx="356235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E28B"/>
                </a:solidFill>
              </a:defRPr>
            </a:pPr>
            <a:r>
              <a:rPr sz="1200" b="0">
                <a:solidFill>
                  <a:srgbClr val="8BE28B"/>
                </a:solidFill>
              </a:rPr>
              <a:t>Did it exploit AGENTS.md and notes quickly?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70342-DBED-4BA6-AECA-5740D3B6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3429000" cy="5143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A1D21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643B5-D5EC-4CC9-B1D7-404B778B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05300"/>
            <a:ext cx="3333750" cy="5143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A1714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EFD49A-5D34-47F4-A59A-A3B00099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05300"/>
            <a:ext cx="3905250" cy="5143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2281D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332B4B-5F53-4B7B-B2E8-4DF87059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30861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6F7"/>
                </a:solidFill>
              </a:defRPr>
            </a:pPr>
            <a:r>
              <a:rPr sz="1500" b="1">
                <a:solidFill>
                  <a:srgbClr val="F5F6F7"/>
                </a:solidFill>
              </a:rPr>
              <a:t>Combined token cost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0DD9EE-E6C9-469F-BB66-83A6727D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19600"/>
            <a:ext cx="299085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9A86"/>
                </a:solidFill>
              </a:defRPr>
            </a:pPr>
            <a:r>
              <a:rPr sz="1200" b="0">
                <a:solidFill>
                  <a:srgbClr val="FF9A86"/>
                </a:solidFill>
              </a:rPr>
              <a:t>Did prompt overhead stay expensive twice?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7FE68E-01A9-4EE1-A7B2-F63AB44A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19600"/>
            <a:ext cx="356235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E28B"/>
                </a:solidFill>
              </a:defRPr>
            </a:pPr>
            <a:r>
              <a:rPr sz="1200" b="0">
                <a:solidFill>
                  <a:srgbClr val="8BE28B"/>
                </a:solidFill>
              </a:rPr>
              <a:t>Did reuse lower uncached token waste?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28B6D4-0544-4BEA-BA80-C45BCA7D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429000" cy="5143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A1D21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542F37-B27B-4BEA-9C85-9242B6D0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3333750" cy="5143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A1714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38A595-EA47-4016-B7D7-CD968340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3905250" cy="5143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2281D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14C28D-4980-416F-864F-9AC5BBCE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30861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6F7"/>
                </a:solidFill>
              </a:defRPr>
            </a:pPr>
            <a:r>
              <a:rPr sz="1500" b="1">
                <a:solidFill>
                  <a:srgbClr val="F5F6F7"/>
                </a:solidFill>
              </a:rPr>
              <a:t>Validation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898D92-FB4A-47DD-A310-62611EED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67300"/>
            <a:ext cx="299085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9A86"/>
                </a:solidFill>
              </a:defRPr>
            </a:pPr>
            <a:r>
              <a:rPr sz="1200" b="0">
                <a:solidFill>
                  <a:srgbClr val="FF9A86"/>
                </a:solidFill>
              </a:rPr>
              <a:t>Did it stop after code changes?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257998-A1C3-408C-835C-AF56883C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67300"/>
            <a:ext cx="356235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E28B"/>
                </a:solidFill>
              </a:defRPr>
            </a:pPr>
            <a:r>
              <a:rPr sz="1200" b="0">
                <a:solidFill>
                  <a:srgbClr val="8BE28B"/>
                </a:solidFill>
              </a:rPr>
              <a:t>Did it run dbt before claiming success?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40F07C-B22A-45B0-B6C5-CF5A3569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3429000" cy="5143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A1D21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623452-38B1-42D7-876A-1D1BCD54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00700"/>
            <a:ext cx="3333750" cy="5143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A1714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301E93-40BE-482E-B188-FA013A45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00700"/>
            <a:ext cx="3905250" cy="5143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2281D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655D88-9234-4BE9-9589-C65E139C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3086100" cy="228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6F7"/>
                </a:solidFill>
              </a:defRPr>
            </a:pPr>
            <a:r>
              <a:rPr sz="1500" b="1">
                <a:solidFill>
                  <a:srgbClr val="F5F6F7"/>
                </a:solidFill>
              </a:rPr>
              <a:t>Risk summary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92EBCB-9C26-437D-9F91-3203A5AD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15000"/>
            <a:ext cx="299085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9A86"/>
                </a:solidFill>
              </a:defRPr>
            </a:pPr>
            <a:r>
              <a:rPr sz="1200" b="0">
                <a:solidFill>
                  <a:srgbClr val="FF9A86"/>
                </a:solidFill>
              </a:rPr>
              <a:t>Did it hand-wave edge cases?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9456AE-AABF-4E9C-94DC-43B5A5F7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715000"/>
            <a:ext cx="356235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E28B"/>
                </a:solidFill>
              </a:defRPr>
            </a:pPr>
            <a:r>
              <a:rPr sz="1200" b="0">
                <a:solidFill>
                  <a:srgbClr val="8BE28B"/>
                </a:solidFill>
              </a:rPr>
              <a:t>Did it name remaining risk explicitly?</a:t>
            </a:r>
          </a:p>
        </p:txBody>
      </p:sp>
    </p:spTree>
    <p:extLst>
      <p:ext uri="{BB962C8B-B14F-4D97-AF65-F5344CB8AC3E}">
        <p14:creationId xmlns:p14="http://schemas.microsoft.com/office/powerpoint/2010/main" val="14692946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A6C3E3-8A7C-4182-8D87-DD20BAB3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219200" cy="571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72810-E343-4994-8997-2D3F3B84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3C8"/>
                </a:solidFill>
              </a:defRPr>
            </a:pPr>
            <a:r>
              <a:rPr sz="1350" b="1">
                <a:solidFill>
                  <a:srgbClr val="FFD3C8"/>
                </a:solidFill>
              </a:rPr>
              <a:t>EXERCISE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C3FE9-B771-4307-8DBC-538FC765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6096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6F7"/>
                </a:solidFill>
              </a:defRPr>
            </a:pPr>
            <a:r>
              <a:rPr sz="2550" b="1">
                <a:solidFill>
                  <a:srgbClr val="F5F6F7"/>
                </a:solidFill>
              </a:rPr>
              <a:t>Design For The Next Session, Not Just The First 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00DCA-7C22-419B-BE1F-97766815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0668000" cy="4953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7A0AA"/>
                </a:solidFill>
              </a:defRPr>
            </a:pPr>
            <a:r>
              <a:rPr sz="1500" b="0">
                <a:solidFill>
                  <a:srgbClr val="97A0AA"/>
                </a:solidFill>
              </a:rPr>
              <a:t>Use the sandbox repo so attendees see why disciplined prompts earn their payoff on follow-up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817BF-A21A-4C1B-A96E-4869385C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476750" cy="3429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A1D21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FECA1-2A5D-417F-AB6F-ECD0D1DC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381250" cy="285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6F7"/>
                </a:solidFill>
              </a:defRPr>
            </a:pPr>
            <a:r>
              <a:rPr sz="1800" b="1">
                <a:solidFill>
                  <a:srgbClr val="F5F6F7"/>
                </a:solidFill>
              </a:rPr>
              <a:t>Original vague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F0D6B-E1E4-44A6-B116-FB5FE780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3810000" cy="16192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9A86"/>
                </a:solidFill>
              </a:defRPr>
            </a:pPr>
            <a:r>
              <a:rPr sz="1650" b="0">
                <a:solidFill>
                  <a:srgbClr val="FF9A86"/>
                </a:solidFill>
              </a:rPr>
              <a:t>Please add market_value_usd, unrealized_gain_usd, and concentration_bucket to the portfolio reporting outputs and make sure everything still works.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0840D-0242-4659-BF3B-095FCEFE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66950"/>
            <a:ext cx="6096000" cy="3429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9525">
            <a:solidFill>
              <a:srgbClr val="2B31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95348-0FD0-425E-9A16-76C1E915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33650"/>
            <a:ext cx="1714500" cy="285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6F7"/>
                </a:solidFill>
              </a:defRPr>
            </a:pPr>
            <a:r>
              <a:rPr sz="1800" b="1">
                <a:solidFill>
                  <a:srgbClr val="F5F6F7"/>
                </a:solidFill>
              </a:rPr>
              <a:t>Rewrite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326CF-2237-4FDD-A0C2-A34D5D85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09900"/>
            <a:ext cx="5334000" cy="4572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D8DC"/>
                </a:solidFill>
              </a:defRPr>
            </a:pPr>
            <a:r>
              <a:rPr sz="1650" b="0">
                <a:solidFill>
                  <a:srgbClr val="D6D8DC"/>
                </a:solidFill>
              </a:rPr>
              <a:t>• Name the exact reporting paths and the ignored paths.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D5D24-FCA2-47B4-B45C-8853D863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67100"/>
            <a:ext cx="5334000" cy="4572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D8DC"/>
                </a:solidFill>
              </a:defRPr>
            </a:pPr>
            <a:r>
              <a:rPr sz="1650" b="0">
                <a:solidFill>
                  <a:srgbClr val="D6D8DC"/>
                </a:solidFill>
              </a:rPr>
              <a:t>• Require reusable artifacts in session 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E8A8E-FD13-4B4E-B90F-716BA78E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24300"/>
            <a:ext cx="5334000" cy="4572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D8DC"/>
                </a:solidFill>
              </a:defRPr>
            </a:pPr>
            <a:r>
              <a:rPr sz="1650" b="0">
                <a:solidFill>
                  <a:srgbClr val="D6D8DC"/>
                </a:solidFill>
              </a:rPr>
              <a:t>• Make session 2 reuse those artifacts from a fresh chat.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D0405-46E5-4B61-8536-A8DE0088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81500"/>
            <a:ext cx="5334000" cy="4572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D8DC"/>
                </a:solidFill>
              </a:defRPr>
            </a:pPr>
            <a:r>
              <a:rPr sz="1650" b="0">
                <a:solidFill>
                  <a:srgbClr val="D6D8DC"/>
                </a:solidFill>
              </a:rPr>
              <a:t>• Ask for dbt validation before the agent claims success.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1E003-4A4F-47EC-8958-22C7A68E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2667000" cy="26670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3C8"/>
                </a:solidFill>
              </a:defRPr>
            </a:pPr>
            <a:r>
              <a:rPr sz="1500" b="1">
                <a:solidFill>
                  <a:srgbClr val="FFD3C8"/>
                </a:solidFill>
              </a:rPr>
              <a:t>Expected attendee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B340E-1FF9-4250-AD02-25CBB62E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67450"/>
            <a:ext cx="10858500" cy="28575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8DC"/>
                </a:solidFill>
              </a:defRPr>
            </a:pPr>
            <a:r>
              <a:rPr sz="1350" b="0">
                <a:solidFill>
                  <a:srgbClr val="D6D8DC"/>
                </a:solidFill>
              </a:rPr>
              <a:t>1. session 1 vague prompt  2. disciplined rewrite  3. session 1 artifacts  4. fresh-session follow-up  5. validation step  6. combined metric</a:t>
            </a:r>
          </a:p>
        </p:txBody>
      </p:sp>
    </p:spTree>
    <p:extLst>
      <p:ext uri="{BB962C8B-B14F-4D97-AF65-F5344CB8AC3E}">
        <p14:creationId xmlns:p14="http://schemas.microsoft.com/office/powerpoint/2010/main" val="15062158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056ED5E-68E1-4ACE-B3D6-BF18627E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4E72E5D-291B-43DC-84B5-4983C48A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85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Team exercise: 15-minute hands-on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16AF9EE-DD84-4911-BAAA-EE1F5C5F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95528"/>
            <a:ext cx="11185855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Make the workshop concrete; do not leave it as abstract prompting advice.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9E486D2-4903-4590-85C6-6DAED47A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88136"/>
            <a:ext cx="111858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632157A-1046-4A6A-9BE0-15787694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63040"/>
            <a:ext cx="521208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40">
                <a:solidFill>
                  <a:srgbClr val="111827"/>
                </a:solidFill>
                <a:latin typeface="Arial"/>
                <a:ea typeface="Arial"/>
                <a:cs typeface="Arial"/>
              </a:rPr>
              <a:t>Exercise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540">
                <a:solidFill>
                  <a:srgbClr val="111827"/>
                </a:solidFill>
                <a:latin typeface="Arial"/>
                <a:ea typeface="Arial"/>
                <a:cs typeface="Arial"/>
              </a:rPr>
              <a:t>Pick one real task people often ask Claude Code to do. Rewrite it using the default template. Then identify one reusable artifact that would make the task cheaper next time.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F88B1E-097A-4784-9131-9BE9BC48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63040"/>
            <a:ext cx="507492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40">
                <a:solidFill>
                  <a:srgbClr val="111827"/>
                </a:solidFill>
                <a:latin typeface="Arial"/>
                <a:ea typeface="Arial"/>
                <a:cs typeface="Arial"/>
              </a:rPr>
              <a:t>Expected output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540">
                <a:solidFill>
                  <a:srgbClr val="111827"/>
                </a:solidFill>
                <a:latin typeface="Arial"/>
                <a:ea typeface="Arial"/>
                <a:cs typeface="Arial"/>
              </a:rPr>
              <a:t>1. Original vague prompt</a:t>
            </a:r>
          </a:p>
          <a:p xmlns:a="http://schemas.openxmlformats.org/drawingml/2006/main">
            <a:pPr marL="0" indent="0">
              <a:buNone/>
            </a:pPr>
            <a:r>
              <a:rPr sz="1540">
                <a:solidFill>
                  <a:srgbClr val="111827"/>
                </a:solidFill>
                <a:latin typeface="Arial"/>
                <a:ea typeface="Arial"/>
                <a:cs typeface="Arial"/>
              </a:rPr>
              <a:t>2. Improved scoped prompt</a:t>
            </a:r>
          </a:p>
          <a:p xmlns:a="http://schemas.openxmlformats.org/drawingml/2006/main">
            <a:pPr marL="0" indent="0">
              <a:buNone/>
            </a:pPr>
            <a:r>
              <a:rPr sz="1540">
                <a:solidFill>
                  <a:srgbClr val="111827"/>
                </a:solidFill>
                <a:latin typeface="Arial"/>
                <a:ea typeface="Arial"/>
                <a:cs typeface="Arial"/>
              </a:rPr>
              <a:t>3. Files/folders allowed</a:t>
            </a:r>
          </a:p>
          <a:p xmlns:a="http://schemas.openxmlformats.org/drawingml/2006/main">
            <a:pPr marL="0" indent="0">
              <a:buNone/>
            </a:pPr>
            <a:r>
              <a:rPr sz="1540">
                <a:solidFill>
                  <a:srgbClr val="111827"/>
                </a:solidFill>
                <a:latin typeface="Arial"/>
                <a:ea typeface="Arial"/>
                <a:cs typeface="Arial"/>
              </a:rPr>
              <a:t>4. Files/folders ignored</a:t>
            </a:r>
          </a:p>
          <a:p xmlns:a="http://schemas.openxmlformats.org/drawingml/2006/main">
            <a:pPr marL="0" indent="0">
              <a:buNone/>
            </a:pPr>
            <a:r>
              <a:rPr sz="1540">
                <a:solidFill>
                  <a:srgbClr val="111827"/>
                </a:solidFill>
                <a:latin typeface="Arial"/>
                <a:ea typeface="Arial"/>
                <a:cs typeface="Arial"/>
              </a:rPr>
              <a:t>5. Reusable doc to create</a:t>
            </a:r>
          </a:p>
          <a:p xmlns:a="http://schemas.openxmlformats.org/drawingml/2006/main">
            <a:pPr marL="0" indent="0">
              <a:buNone/>
            </a:pPr>
            <a:r>
              <a:rPr sz="1540">
                <a:solidFill>
                  <a:srgbClr val="111827"/>
                </a:solidFill>
                <a:latin typeface="Arial"/>
                <a:ea typeface="Arial"/>
                <a:cs typeface="Arial"/>
              </a:rPr>
              <a:t>6. Validation step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A55A670-0C25-42FD-BB6B-BB7D081F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32120"/>
            <a:ext cx="99212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11827"/>
                </a:solidFill>
                <a:latin typeface="Arial"/>
                <a:ea typeface="Arial"/>
                <a:cs typeface="Arial"/>
              </a:rPr>
              <a:t>Facilitator move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11827"/>
                </a:solidFill>
                <a:latin typeface="Arial"/>
                <a:ea typeface="Arial"/>
                <a:cs typeface="Arial"/>
              </a:rPr>
              <a:t>Push back on vague scope. Ask: “What is the smallest repo slice that could answer this?”</a:t>
            </a:r>
          </a:p>
        </p:txBody>
      </p:sp>
    </p:spTree>
    <p:extLst>
      <p:ext uri="{BB962C8B-B14F-4D97-AF65-F5344CB8AC3E}">
        <p14:creationId xmlns:p14="http://schemas.microsoft.com/office/powerpoint/2010/main" val="556313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D2CD504-4808-4F89-900F-EBDBD40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1124B6F-77F9-4820-A2AF-CEE17B9D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85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Takeaways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C38F448-0E0D-4D12-B2D4-BCDD48CB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95528"/>
            <a:ext cx="11185855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practical rules to repeat until they become habit.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4FC6B01-445A-4E10-B3BB-CB329943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88136"/>
            <a:ext cx="111858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4112943-DD18-4C52-B3B0-571DD940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00200"/>
            <a:ext cx="507492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Context is the work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Prompt quality is mostly context quality.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7272CD-D295-469C-9079-912107CE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07492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827"/>
                </a:solidFill>
                <a:latin typeface="Arial"/>
                <a:ea typeface="Arial"/>
                <a:cs typeface="Arial"/>
              </a:rPr>
              <a:t>Discover once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827"/>
                </a:solidFill>
                <a:latin typeface="Arial"/>
                <a:ea typeface="Arial"/>
                <a:cs typeface="Arial"/>
              </a:rPr>
              <a:t>Persist repo knowledge into reusable artifacts.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4C41B22-93C5-404F-A9A8-E35D453C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507492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827"/>
                </a:solidFill>
                <a:latin typeface="Arial"/>
                <a:ea typeface="Arial"/>
                <a:cs typeface="Arial"/>
              </a:rPr>
              <a:t>Scope hard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827"/>
                </a:solidFill>
                <a:latin typeface="Arial"/>
                <a:ea typeface="Arial"/>
                <a:cs typeface="Arial"/>
              </a:rPr>
              <a:t>Limit files, folders, and dependency expansion.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9D9AD7C-9498-45B5-984C-C42CE35C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507492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827"/>
                </a:solidFill>
                <a:latin typeface="Arial"/>
                <a:ea typeface="Arial"/>
                <a:cs typeface="Arial"/>
              </a:rPr>
              <a:t>Plan first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827"/>
                </a:solidFill>
                <a:latin typeface="Arial"/>
                <a:ea typeface="Arial"/>
                <a:cs typeface="Arial"/>
              </a:rPr>
              <a:t>Inspect, reason, and validate before edits.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30F1878-9784-43B1-9DFD-D9690EFC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5508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475569"/>
                </a:solidFill>
                <a:latin typeface="Arial"/>
                <a:ea typeface="Arial"/>
                <a:cs typeface="Arial"/>
              </a:rPr>
              <a:t>Sources checked: Anthropic Claude Code docs on memory, common workflows, subagents, skills, hooks, and overview.</a:t>
            </a:r>
          </a:p>
        </p:txBody>
      </p:sp>
    </p:spTree>
    <p:extLst>
      <p:ext uri="{BB962C8B-B14F-4D97-AF65-F5344CB8AC3E}">
        <p14:creationId xmlns:p14="http://schemas.microsoft.com/office/powerpoint/2010/main" val="846390858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2026-05-20T22:16:54.3270000Z</dcterms:created>
  <dcterms:modified xsi:type="dcterms:W3CDTF">2026-05-20T22:16:54.3270000Z</dcterms:modified>
</coreProperties>
</file>